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6" r:id="rId1"/>
    <p:sldMasterId id="2147483673" r:id="rId2"/>
  </p:sldMasterIdLst>
  <p:notesMasterIdLst>
    <p:notesMasterId r:id="rId15"/>
  </p:notesMasterIdLst>
  <p:sldIdLst>
    <p:sldId id="256" r:id="rId3"/>
    <p:sldId id="257" r:id="rId4"/>
    <p:sldId id="260" r:id="rId5"/>
    <p:sldId id="275" r:id="rId6"/>
    <p:sldId id="258" r:id="rId7"/>
    <p:sldId id="259" r:id="rId8"/>
    <p:sldId id="262" r:id="rId9"/>
    <p:sldId id="273" r:id="rId10"/>
    <p:sldId id="272" r:id="rId11"/>
    <p:sldId id="268" r:id="rId12"/>
    <p:sldId id="261" r:id="rId13"/>
    <p:sldId id="274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28F"/>
    <a:srgbClr val="00CAFF"/>
    <a:srgbClr val="266AB0"/>
    <a:srgbClr val="00B050"/>
    <a:srgbClr val="FFFFFF"/>
    <a:srgbClr val="C5E0B3"/>
    <a:srgbClr val="A5B1CF"/>
    <a:srgbClr val="21C153"/>
    <a:srgbClr val="247D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89880" autoAdjust="0"/>
  </p:normalViewPr>
  <p:slideViewPr>
    <p:cSldViewPr snapToGrid="0">
      <p:cViewPr varScale="1">
        <p:scale>
          <a:sx n="120" d="100"/>
          <a:sy n="120" d="100"/>
        </p:scale>
        <p:origin x="216" y="75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711F3E-B30C-42F4-A182-916C2273D750}" type="datetimeFigureOut">
              <a:rPr lang="zh-CN" altLang="en-US" smtClean="0"/>
              <a:t>2026/7/27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9ECE30-DA3C-4C43-B4FA-1B84E43DAA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2600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53" y="1726880"/>
            <a:ext cx="8585847" cy="1783082"/>
          </a:xfrm>
          <a:prstGeom prst="rect">
            <a:avLst/>
          </a:prstGeom>
        </p:spPr>
        <p:txBody>
          <a:bodyPr anchor="b"/>
          <a:lstStyle>
            <a:lvl1pPr algn="ctr">
              <a:defRPr sz="4000" b="1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746EC9B-BF03-44DF-A8BA-DEC10CF46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6752" y="3705101"/>
            <a:ext cx="8585847" cy="1552698"/>
          </a:xfrm>
        </p:spPr>
        <p:txBody>
          <a:bodyPr>
            <a:normAutofit/>
          </a:bodyPr>
          <a:lstStyle>
            <a:lvl1pPr marL="0" indent="0" algn="ctr">
              <a:buNone/>
              <a:defRPr sz="2800" b="0">
                <a:solidFill>
                  <a:srgbClr val="4B649F"/>
                </a:solidFill>
                <a:latin typeface="微软雅黑" pitchFamily="34" charset="-122"/>
                <a:ea typeface="微软雅黑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F9BB-E938-4B89-BFD0-F1F7E7F01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969515-F994-4062-90A1-C5AFF888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36AF07-1610-4396-B004-C0D31EE8D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D9A5DF5-4A92-4DC2-BF60-CF7F5CFD30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644" y="4757740"/>
            <a:ext cx="4399359" cy="1243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19">
            <a:extLst>
              <a:ext uri="{FF2B5EF4-FFF2-40B4-BE49-F238E27FC236}">
                <a16:creationId xmlns:a16="http://schemas.microsoft.com/office/drawing/2014/main" id="{3093C588-C891-47DE-AB8C-7210B8F033B9}"/>
              </a:ext>
            </a:extLst>
          </p:cNvPr>
          <p:cNvSpPr/>
          <p:nvPr userDrawn="1"/>
        </p:nvSpPr>
        <p:spPr>
          <a:xfrm>
            <a:off x="1468754" y="1701661"/>
            <a:ext cx="8918627" cy="365089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grpSp>
        <p:nvGrpSpPr>
          <p:cNvPr id="10" name="Group 1">
            <a:extLst>
              <a:ext uri="{FF2B5EF4-FFF2-40B4-BE49-F238E27FC236}">
                <a16:creationId xmlns:a16="http://schemas.microsoft.com/office/drawing/2014/main" id="{699205C8-0229-4279-B618-AEECC6033E62}"/>
              </a:ext>
            </a:extLst>
          </p:cNvPr>
          <p:cNvGrpSpPr/>
          <p:nvPr userDrawn="1"/>
        </p:nvGrpSpPr>
        <p:grpSpPr>
          <a:xfrm>
            <a:off x="10031385" y="4810119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7642A93B-C446-461D-84B8-32CA9F4BDCDB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B95D439B-E84C-4CE8-B66B-54587B9CC8A0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3" name="Group 3">
            <a:extLst>
              <a:ext uri="{FF2B5EF4-FFF2-40B4-BE49-F238E27FC236}">
                <a16:creationId xmlns:a16="http://schemas.microsoft.com/office/drawing/2014/main" id="{5071832E-9782-4517-ABCE-52744968689D}"/>
              </a:ext>
            </a:extLst>
          </p:cNvPr>
          <p:cNvGrpSpPr/>
          <p:nvPr userDrawn="1"/>
        </p:nvGrpSpPr>
        <p:grpSpPr>
          <a:xfrm>
            <a:off x="1354455" y="1612580"/>
            <a:ext cx="470297" cy="470297"/>
            <a:chOff x="1308100" y="1397035"/>
            <a:chExt cx="627063" cy="627062"/>
          </a:xfrm>
        </p:grpSpPr>
        <p:sp>
          <p:nvSpPr>
            <p:cNvPr id="14" name="矩形 24">
              <a:extLst>
                <a:ext uri="{FF2B5EF4-FFF2-40B4-BE49-F238E27FC236}">
                  <a16:creationId xmlns:a16="http://schemas.microsoft.com/office/drawing/2014/main" id="{20CCC993-F73A-4608-BA4F-ECC09B6A8879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5" name="矩形 25">
              <a:extLst>
                <a:ext uri="{FF2B5EF4-FFF2-40B4-BE49-F238E27FC236}">
                  <a16:creationId xmlns:a16="http://schemas.microsoft.com/office/drawing/2014/main" id="{05E4C06D-7FAD-47AC-97E6-1CF70EAFAD79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1833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 txBox="1">
            <a:spLocks/>
          </p:cNvSpPr>
          <p:nvPr userDrawn="1"/>
        </p:nvSpPr>
        <p:spPr>
          <a:xfrm>
            <a:off x="-1556395" y="0"/>
            <a:ext cx="8585847" cy="204786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endParaRPr lang="zh-CN" altLang="en-US" dirty="0"/>
          </a:p>
        </p:txBody>
      </p:sp>
      <p:pic>
        <p:nvPicPr>
          <p:cNvPr id="8" name="图片 6">
            <a:extLst>
              <a:ext uri="{FF2B5EF4-FFF2-40B4-BE49-F238E27FC236}">
                <a16:creationId xmlns:a16="http://schemas.microsoft.com/office/drawing/2014/main" id="{1D9A5DF5-4A92-4DC2-BF60-CF7F5CFD30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0543" y="4057650"/>
            <a:ext cx="4399359" cy="1243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19">
            <a:extLst>
              <a:ext uri="{FF2B5EF4-FFF2-40B4-BE49-F238E27FC236}">
                <a16:creationId xmlns:a16="http://schemas.microsoft.com/office/drawing/2014/main" id="{3093C588-C891-47DE-AB8C-7210B8F033B9}"/>
              </a:ext>
            </a:extLst>
          </p:cNvPr>
          <p:cNvSpPr/>
          <p:nvPr userDrawn="1"/>
        </p:nvSpPr>
        <p:spPr>
          <a:xfrm>
            <a:off x="1468754" y="2419350"/>
            <a:ext cx="8918627" cy="207645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grpSp>
        <p:nvGrpSpPr>
          <p:cNvPr id="10" name="Group 1">
            <a:extLst>
              <a:ext uri="{FF2B5EF4-FFF2-40B4-BE49-F238E27FC236}">
                <a16:creationId xmlns:a16="http://schemas.microsoft.com/office/drawing/2014/main" id="{699205C8-0229-4279-B618-AEECC6033E62}"/>
              </a:ext>
            </a:extLst>
          </p:cNvPr>
          <p:cNvGrpSpPr/>
          <p:nvPr userDrawn="1"/>
        </p:nvGrpSpPr>
        <p:grpSpPr>
          <a:xfrm>
            <a:off x="9993285" y="4295769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7642A93B-C446-461D-84B8-32CA9F4BDCDB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B95D439B-E84C-4CE8-B66B-54587B9CC8A0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3" name="Group 3">
            <a:extLst>
              <a:ext uri="{FF2B5EF4-FFF2-40B4-BE49-F238E27FC236}">
                <a16:creationId xmlns:a16="http://schemas.microsoft.com/office/drawing/2014/main" id="{5071832E-9782-4517-ABCE-52744968689D}"/>
              </a:ext>
            </a:extLst>
          </p:cNvPr>
          <p:cNvGrpSpPr/>
          <p:nvPr userDrawn="1"/>
        </p:nvGrpSpPr>
        <p:grpSpPr>
          <a:xfrm>
            <a:off x="1411604" y="2184201"/>
            <a:ext cx="470297" cy="470297"/>
            <a:chOff x="1308100" y="1397035"/>
            <a:chExt cx="627063" cy="627062"/>
          </a:xfrm>
        </p:grpSpPr>
        <p:sp>
          <p:nvSpPr>
            <p:cNvPr id="14" name="矩形 24">
              <a:extLst>
                <a:ext uri="{FF2B5EF4-FFF2-40B4-BE49-F238E27FC236}">
                  <a16:creationId xmlns:a16="http://schemas.microsoft.com/office/drawing/2014/main" id="{20CCC993-F73A-4608-BA4F-ECC09B6A8879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5" name="矩形 25">
              <a:extLst>
                <a:ext uri="{FF2B5EF4-FFF2-40B4-BE49-F238E27FC236}">
                  <a16:creationId xmlns:a16="http://schemas.microsoft.com/office/drawing/2014/main" id="{05E4C06D-7FAD-47AC-97E6-1CF70EAFAD79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sp>
        <p:nvSpPr>
          <p:cNvPr id="24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53" y="2546030"/>
            <a:ext cx="8585847" cy="1783082"/>
          </a:xfrm>
          <a:prstGeom prst="rect">
            <a:avLst/>
          </a:prstGeom>
        </p:spPr>
        <p:txBody>
          <a:bodyPr anchor="ctr" anchorCtr="0"/>
          <a:lstStyle>
            <a:lvl1pPr algn="ctr">
              <a:defRPr sz="4000" b="1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0638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190005" y="902526"/>
            <a:ext cx="11792198" cy="537952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  <a:lvl5pPr>
              <a:lnSpc>
                <a:spcPct val="114000"/>
              </a:lnSpc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9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92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176000" y="6274026"/>
            <a:ext cx="695820" cy="365125"/>
          </a:xfrm>
        </p:spPr>
        <p:txBody>
          <a:bodyPr/>
          <a:lstStyle>
            <a:lvl1pPr>
              <a:defRPr sz="18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defTabSz="685800">
              <a:defRPr/>
            </a:pPr>
            <a:fld id="{86CFBB55-5383-4680-AC02-FAC14F853CF3}" type="slidenum">
              <a:rPr lang="zh-CN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 defTabSz="685800">
                <a:defRPr/>
              </a:pPr>
              <a:t>‹#›</a:t>
            </a:fld>
            <a:endParaRPr lang="zh-CN" altLang="en-US" dirty="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0" y="785813"/>
            <a:ext cx="11176000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占位符 2">
            <a:extLst>
              <a:ext uri="{FF2B5EF4-FFF2-40B4-BE49-F238E27FC236}">
                <a16:creationId xmlns:a16="http://schemas.microsoft.com/office/drawing/2014/main" id="{80FC510A-EAAE-41C0-9423-6423A04A3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007" y="878774"/>
            <a:ext cx="11720945" cy="53795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2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1260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617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A96EA-D46C-425F-9023-F6E11ED2E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7418F6-77DE-4C93-8786-64C7EB578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7A26F3-B790-4F42-83B8-93E6880F1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F051AD-0767-4DE2-AC0C-E71E58D36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0157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A3E354F7-F0ED-42AE-82D8-126AC5F22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3082" y="1536333"/>
            <a:ext cx="7965831" cy="1892667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4000" b="1" kern="1200" dirty="0" smtClean="0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19">
            <a:extLst>
              <a:ext uri="{FF2B5EF4-FFF2-40B4-BE49-F238E27FC236}">
                <a16:creationId xmlns:a16="http://schemas.microsoft.com/office/drawing/2014/main" id="{BC71A19F-F7A3-42EA-A331-F2E4908A384F}"/>
              </a:ext>
            </a:extLst>
          </p:cNvPr>
          <p:cNvSpPr/>
          <p:nvPr userDrawn="1"/>
        </p:nvSpPr>
        <p:spPr>
          <a:xfrm>
            <a:off x="1636686" y="1484784"/>
            <a:ext cx="8918627" cy="365089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sp>
        <p:nvSpPr>
          <p:cNvPr id="6" name="副标题 2">
            <a:extLst>
              <a:ext uri="{FF2B5EF4-FFF2-40B4-BE49-F238E27FC236}">
                <a16:creationId xmlns:a16="http://schemas.microsoft.com/office/drawing/2014/main" id="{FC6CC002-1B6C-4F2D-94C7-2E8ACA288B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03075" y="3518817"/>
            <a:ext cx="8585847" cy="155269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800" b="0">
                <a:solidFill>
                  <a:srgbClr val="4B649F"/>
                </a:solidFill>
                <a:latin typeface="微软雅黑" pitchFamily="34" charset="-122"/>
                <a:ea typeface="微软雅黑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grpSp>
        <p:nvGrpSpPr>
          <p:cNvPr id="7" name="Group 3">
            <a:extLst>
              <a:ext uri="{FF2B5EF4-FFF2-40B4-BE49-F238E27FC236}">
                <a16:creationId xmlns:a16="http://schemas.microsoft.com/office/drawing/2014/main" id="{B197089F-3598-4951-B6D4-54D9A671E5B2}"/>
              </a:ext>
            </a:extLst>
          </p:cNvPr>
          <p:cNvGrpSpPr/>
          <p:nvPr userDrawn="1"/>
        </p:nvGrpSpPr>
        <p:grpSpPr>
          <a:xfrm>
            <a:off x="1506855" y="1331226"/>
            <a:ext cx="470297" cy="470297"/>
            <a:chOff x="1308100" y="1397035"/>
            <a:chExt cx="627063" cy="627062"/>
          </a:xfrm>
        </p:grpSpPr>
        <p:sp>
          <p:nvSpPr>
            <p:cNvPr id="8" name="矩形 24">
              <a:extLst>
                <a:ext uri="{FF2B5EF4-FFF2-40B4-BE49-F238E27FC236}">
                  <a16:creationId xmlns:a16="http://schemas.microsoft.com/office/drawing/2014/main" id="{7EAABA7A-4F6F-438D-9185-86E90C63417E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9" name="矩形 25">
              <a:extLst>
                <a:ext uri="{FF2B5EF4-FFF2-40B4-BE49-F238E27FC236}">
                  <a16:creationId xmlns:a16="http://schemas.microsoft.com/office/drawing/2014/main" id="{33DD09B7-9822-4566-8A6F-FE8A7FE7079A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0" name="Group 1">
            <a:extLst>
              <a:ext uri="{FF2B5EF4-FFF2-40B4-BE49-F238E27FC236}">
                <a16:creationId xmlns:a16="http://schemas.microsoft.com/office/drawing/2014/main" id="{E368B615-5657-440B-8D0D-569A4DA40CAA}"/>
              </a:ext>
            </a:extLst>
          </p:cNvPr>
          <p:cNvGrpSpPr/>
          <p:nvPr userDrawn="1"/>
        </p:nvGrpSpPr>
        <p:grpSpPr>
          <a:xfrm>
            <a:off x="10220906" y="4807196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3328BEBE-9CD5-4A86-8914-3E9049EFB455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F9774E07-744E-411E-9128-3DDE00D3E509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CDB66F6E-3F5E-4D6E-AAEE-FAA482896727}"/>
              </a:ext>
            </a:extLst>
          </p:cNvPr>
          <p:cNvGrpSpPr/>
          <p:nvPr userDrawn="1"/>
        </p:nvGrpSpPr>
        <p:grpSpPr>
          <a:xfrm>
            <a:off x="9523" y="0"/>
            <a:ext cx="981077" cy="1003300"/>
            <a:chOff x="9523" y="0"/>
            <a:chExt cx="981077" cy="1003300"/>
          </a:xfrm>
        </p:grpSpPr>
        <p:sp>
          <p:nvSpPr>
            <p:cNvPr id="16" name="等腰三角形 15">
              <a:extLst>
                <a:ext uri="{FF2B5EF4-FFF2-40B4-BE49-F238E27FC236}">
                  <a16:creationId xmlns:a16="http://schemas.microsoft.com/office/drawing/2014/main" id="{6B801437-7D3B-43D3-882E-DFA97626D4E2}"/>
                </a:ext>
              </a:extLst>
            </p:cNvPr>
            <p:cNvSpPr/>
            <p:nvPr userDrawn="1"/>
          </p:nvSpPr>
          <p:spPr>
            <a:xfrm>
              <a:off x="336548" y="501650"/>
              <a:ext cx="654050" cy="501650"/>
            </a:xfrm>
            <a:prstGeom prst="triangle">
              <a:avLst/>
            </a:prstGeom>
            <a:solidFill>
              <a:srgbClr val="C5E0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等腰三角形 16">
              <a:extLst>
                <a:ext uri="{FF2B5EF4-FFF2-40B4-BE49-F238E27FC236}">
                  <a16:creationId xmlns:a16="http://schemas.microsoft.com/office/drawing/2014/main" id="{F7CAEB83-20FB-427B-9E60-CC51F816B235}"/>
                </a:ext>
              </a:extLst>
            </p:cNvPr>
            <p:cNvSpPr/>
            <p:nvPr userDrawn="1"/>
          </p:nvSpPr>
          <p:spPr>
            <a:xfrm rot="10800000">
              <a:off x="336550" y="0"/>
              <a:ext cx="654050" cy="501650"/>
            </a:xfrm>
            <a:prstGeom prst="triangle">
              <a:avLst/>
            </a:prstGeom>
            <a:solidFill>
              <a:srgbClr val="A5B1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等腰三角形 18">
              <a:extLst>
                <a:ext uri="{FF2B5EF4-FFF2-40B4-BE49-F238E27FC236}">
                  <a16:creationId xmlns:a16="http://schemas.microsoft.com/office/drawing/2014/main" id="{24C93EC3-1E98-4286-A723-6E340DC8745F}"/>
                </a:ext>
              </a:extLst>
            </p:cNvPr>
            <p:cNvSpPr/>
            <p:nvPr userDrawn="1"/>
          </p:nvSpPr>
          <p:spPr>
            <a:xfrm>
              <a:off x="9523" y="0"/>
              <a:ext cx="654050" cy="501650"/>
            </a:xfrm>
            <a:prstGeom prst="triangle">
              <a:avLst/>
            </a:prstGeom>
            <a:solidFill>
              <a:srgbClr val="266AB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等腰三角形 19">
              <a:extLst>
                <a:ext uri="{FF2B5EF4-FFF2-40B4-BE49-F238E27FC236}">
                  <a16:creationId xmlns:a16="http://schemas.microsoft.com/office/drawing/2014/main" id="{52B555B4-4495-49D5-9D51-D9D40D38EDFB}"/>
                </a:ext>
              </a:extLst>
            </p:cNvPr>
            <p:cNvSpPr/>
            <p:nvPr userDrawn="1"/>
          </p:nvSpPr>
          <p:spPr>
            <a:xfrm rot="10800000">
              <a:off x="9523" y="501650"/>
              <a:ext cx="654050" cy="501650"/>
            </a:xfrm>
            <a:prstGeom prst="triangl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56077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普通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82FB95-47FB-4938-A121-2227E0BDAC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84649" y="6341810"/>
            <a:ext cx="4114800" cy="365125"/>
          </a:xfrm>
          <a:prstGeom prst="rect">
            <a:avLst/>
          </a:prstGeom>
          <a:noFill/>
        </p:spPr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algn="ctr"/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A3D5BA1-327D-4FFB-8604-622C04783FB7}"/>
              </a:ext>
            </a:extLst>
          </p:cNvPr>
          <p:cNvCxnSpPr>
            <a:cxnSpLocks/>
          </p:cNvCxnSpPr>
          <p:nvPr userDrawn="1"/>
        </p:nvCxnSpPr>
        <p:spPr>
          <a:xfrm>
            <a:off x="0" y="785813"/>
            <a:ext cx="10175631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占位符 2">
            <a:extLst>
              <a:ext uri="{FF2B5EF4-FFF2-40B4-BE49-F238E27FC236}">
                <a16:creationId xmlns:a16="http://schemas.microsoft.com/office/drawing/2014/main" id="{0A90AC45-33B8-467E-8109-A6BDBB3864A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235527" y="919698"/>
            <a:ext cx="11721523" cy="52969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560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90000"/>
              <a:buFont typeface="Wingdings" pitchFamily="2" charset="2"/>
              <a:buChar char="q"/>
              <a:defRPr sz="2800" b="1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defRPr>
            </a:lvl1pPr>
            <a:lvl2pPr marL="685800" indent="-2349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SzPct val="90000"/>
              <a:buFont typeface="Wingdings" pitchFamily="2" charset="2"/>
              <a:buChar char="n"/>
              <a:defRPr sz="24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2pPr>
            <a:lvl3pPr marL="985838" indent="-2730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v"/>
              <a:defRPr sz="20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3pPr>
            <a:lvl4pPr marL="1262063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ü"/>
              <a:defRPr sz="18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4pPr>
            <a:lvl5pPr marL="1524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6" name="平行四边形 15">
            <a:extLst>
              <a:ext uri="{FF2B5EF4-FFF2-40B4-BE49-F238E27FC236}">
                <a16:creationId xmlns:a16="http://schemas.microsoft.com/office/drawing/2014/main" id="{B1201DA1-814D-477D-93C1-4CE97B76CA07}"/>
              </a:ext>
            </a:extLst>
          </p:cNvPr>
          <p:cNvSpPr/>
          <p:nvPr userDrawn="1"/>
        </p:nvSpPr>
        <p:spPr>
          <a:xfrm>
            <a:off x="4803932" y="6418197"/>
            <a:ext cx="78730" cy="212350"/>
          </a:xfrm>
          <a:prstGeom prst="parallelogram">
            <a:avLst/>
          </a:prstGeom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平行四边形 16">
            <a:extLst>
              <a:ext uri="{FF2B5EF4-FFF2-40B4-BE49-F238E27FC236}">
                <a16:creationId xmlns:a16="http://schemas.microsoft.com/office/drawing/2014/main" id="{CF070881-46C6-4933-90A8-CFF40A0FBF12}"/>
              </a:ext>
            </a:extLst>
          </p:cNvPr>
          <p:cNvSpPr/>
          <p:nvPr userDrawn="1"/>
        </p:nvSpPr>
        <p:spPr>
          <a:xfrm>
            <a:off x="7388871" y="6418197"/>
            <a:ext cx="78730" cy="212350"/>
          </a:xfrm>
          <a:prstGeom prst="parallelogram">
            <a:avLst/>
          </a:prstGeom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标题 21">
            <a:extLst>
              <a:ext uri="{FF2B5EF4-FFF2-40B4-BE49-F238E27FC236}">
                <a16:creationId xmlns:a16="http://schemas.microsoft.com/office/drawing/2014/main" id="{F17CA559-8F3D-43C4-844D-C9BA2F653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" y="1"/>
            <a:ext cx="9340850" cy="709424"/>
          </a:xfrm>
          <a:prstGeom prst="rect">
            <a:avLst/>
          </a:prstGeom>
        </p:spPr>
        <p:txBody>
          <a:bodyPr anchor="ctr"/>
          <a:lstStyle>
            <a:lvl1pPr algn="l">
              <a:defRPr lang="zh-CN" altLang="en-US" sz="4000" b="1" kern="1200" dirty="0" smtClean="0">
                <a:solidFill>
                  <a:srgbClr val="4B649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353B46D-92D7-43F6-B39F-D17490099C0E}"/>
              </a:ext>
            </a:extLst>
          </p:cNvPr>
          <p:cNvSpPr/>
          <p:nvPr userDrawn="1"/>
        </p:nvSpPr>
        <p:spPr>
          <a:xfrm>
            <a:off x="11556957" y="6251928"/>
            <a:ext cx="455007" cy="45500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587977E-2C10-420F-BE86-C0F891FE5212}" type="slidenum">
              <a:rPr lang="zh-CN" altLang="en-US" sz="1200" b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/>
              <a:t>‹#›</a:t>
            </a:fld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8381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0FC510A-EAAE-41C0-9423-6423A04A3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5007" y="890649"/>
            <a:ext cx="11720945" cy="5367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00C973-F94C-48B5-B69A-DF371E842A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8959F7-3E4A-4CAE-B5F7-1BCE614C75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F0037F-8DF7-47E7-A2E9-7112F040D9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9" name="直接连接符 6"/>
          <p:cNvCxnSpPr/>
          <p:nvPr userDrawn="1"/>
        </p:nvCxnSpPr>
        <p:spPr>
          <a:xfrm>
            <a:off x="0" y="785813"/>
            <a:ext cx="11176000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3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4B649F"/>
          </a:solidFill>
          <a:latin typeface="微软雅黑" pitchFamily="34" charset="-122"/>
          <a:ea typeface="微软雅黑" pitchFamily="34" charset="-122"/>
          <a:cs typeface="+mj-cs"/>
        </a:defRPr>
      </a:lvl1pPr>
    </p:titleStyle>
    <p:bodyStyle>
      <a:lvl1pPr marL="355600" indent="-355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SzPct val="90000"/>
        <a:buFont typeface="Wingdings" pitchFamily="2" charset="2"/>
        <a:buChar char="q"/>
        <a:defRPr sz="2800" b="1" kern="1200">
          <a:solidFill>
            <a:schemeClr val="tx1"/>
          </a:solidFill>
          <a:latin typeface="微软雅黑" pitchFamily="34" charset="-122"/>
          <a:ea typeface="微软雅黑" pitchFamily="34" charset="-122"/>
          <a:cs typeface="Times New Roman" pitchFamily="18" charset="0"/>
        </a:defRPr>
      </a:lvl1pPr>
      <a:lvl2pPr marL="685800" indent="-23495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90000"/>
        <a:buFont typeface="Wingdings" pitchFamily="2" charset="2"/>
        <a:buChar char="n"/>
        <a:defRPr sz="24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2pPr>
      <a:lvl3pPr marL="985838" indent="-27305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v"/>
        <a:defRPr sz="20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3pPr>
      <a:lvl4pPr marL="1262063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ü"/>
        <a:defRPr sz="18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4pPr>
      <a:lvl5pPr marL="1524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7956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5FBD84-A3CB-DE36-A9BE-7107FA2B0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编译框架</a:t>
            </a:r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27195FBD-11E7-7B4D-7166-8EA02A5D3D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8546" y="1575661"/>
            <a:ext cx="8432054" cy="4427489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DD248B-4F38-A46D-978A-B60AC1B03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8" name="矩形: 折角 7">
            <a:extLst>
              <a:ext uri="{FF2B5EF4-FFF2-40B4-BE49-F238E27FC236}">
                <a16:creationId xmlns:a16="http://schemas.microsoft.com/office/drawing/2014/main" id="{B1CACE9C-E66F-DA89-201B-A18793DB31CB}"/>
              </a:ext>
            </a:extLst>
          </p:cNvPr>
          <p:cNvSpPr/>
          <p:nvPr/>
        </p:nvSpPr>
        <p:spPr>
          <a:xfrm>
            <a:off x="624727" y="944897"/>
            <a:ext cx="540000" cy="180000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4E0051-53DA-3BEF-F158-4B85388E888C}"/>
              </a:ext>
            </a:extLst>
          </p:cNvPr>
          <p:cNvSpPr/>
          <p:nvPr/>
        </p:nvSpPr>
        <p:spPr>
          <a:xfrm>
            <a:off x="2835663" y="944897"/>
            <a:ext cx="540000" cy="1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CDDD00-68BA-2BBC-9D41-9A19445D0A05}"/>
              </a:ext>
            </a:extLst>
          </p:cNvPr>
          <p:cNvSpPr txBox="1"/>
          <p:nvPr/>
        </p:nvSpPr>
        <p:spPr>
          <a:xfrm>
            <a:off x="1262330" y="881008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量子程序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A1B5E26-AC3B-C82C-9392-FE45C34D4257}"/>
              </a:ext>
            </a:extLst>
          </p:cNvPr>
          <p:cNvSpPr txBox="1"/>
          <p:nvPr/>
        </p:nvSpPr>
        <p:spPr>
          <a:xfrm>
            <a:off x="3473266" y="881008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编译模块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E3CBE3A-5E05-27C8-D727-D431B43E7BB7}"/>
              </a:ext>
            </a:extLst>
          </p:cNvPr>
          <p:cNvSpPr/>
          <p:nvPr/>
        </p:nvSpPr>
        <p:spPr>
          <a:xfrm>
            <a:off x="6341660" y="1705971"/>
            <a:ext cx="2356513" cy="4208060"/>
          </a:xfrm>
          <a:prstGeom prst="rect">
            <a:avLst/>
          </a:prstGeom>
          <a:ln w="22225">
            <a:solidFill>
              <a:srgbClr val="C0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矩形: 折角 15">
            <a:extLst>
              <a:ext uri="{FF2B5EF4-FFF2-40B4-BE49-F238E27FC236}">
                <a16:creationId xmlns:a16="http://schemas.microsoft.com/office/drawing/2014/main" id="{CA927DF2-1759-776F-3616-7E109EE3BCB2}"/>
              </a:ext>
            </a:extLst>
          </p:cNvPr>
          <p:cNvSpPr/>
          <p:nvPr/>
        </p:nvSpPr>
        <p:spPr>
          <a:xfrm>
            <a:off x="9142517" y="1430681"/>
            <a:ext cx="1299412" cy="916734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rz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q[2];</a:t>
            </a:r>
          </a:p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cz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q[0],q[2];</a:t>
            </a:r>
          </a:p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cz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q[0],q[1];</a:t>
            </a:r>
          </a:p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cz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q[3],q[2];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矩形: 折角 19">
            <a:extLst>
              <a:ext uri="{FF2B5EF4-FFF2-40B4-BE49-F238E27FC236}">
                <a16:creationId xmlns:a16="http://schemas.microsoft.com/office/drawing/2014/main" id="{66BD89DD-79B8-0FC2-8643-99F9B2206F09}"/>
              </a:ext>
            </a:extLst>
          </p:cNvPr>
          <p:cNvSpPr/>
          <p:nvPr/>
        </p:nvSpPr>
        <p:spPr>
          <a:xfrm>
            <a:off x="10441929" y="2832543"/>
            <a:ext cx="1299412" cy="1088790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en-US" altLang="zh-CN" sz="1050" dirty="0">
              <a:latin typeface="微软雅黑" pitchFamily="34" charset="-122"/>
              <a:ea typeface="微软雅黑" pitchFamily="34" charset="-122"/>
            </a:endParaRPr>
          </a:p>
          <a:p>
            <a:pPr algn="ctr"/>
            <a:endParaRPr lang="en-US" altLang="zh-CN" sz="1050" dirty="0">
              <a:latin typeface="微软雅黑" pitchFamily="34" charset="-122"/>
              <a:ea typeface="微软雅黑" pitchFamily="34" charset="-122"/>
            </a:endParaRP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2q block:{</a:t>
            </a:r>
          </a:p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cz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q[0],q[2];</a:t>
            </a:r>
          </a:p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cz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q[0],q[1];</a:t>
            </a:r>
          </a:p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cz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q[3],q[2];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    }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矩形: 折角 21">
            <a:extLst>
              <a:ext uri="{FF2B5EF4-FFF2-40B4-BE49-F238E27FC236}">
                <a16:creationId xmlns:a16="http://schemas.microsoft.com/office/drawing/2014/main" id="{2EBCBD7D-6735-9463-CE0B-45AD5F27B9D2}"/>
              </a:ext>
            </a:extLst>
          </p:cNvPr>
          <p:cNvSpPr/>
          <p:nvPr/>
        </p:nvSpPr>
        <p:spPr>
          <a:xfrm>
            <a:off x="8920345" y="2832543"/>
            <a:ext cx="1299412" cy="1088790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en-US" altLang="zh-CN" sz="1050" dirty="0">
              <a:latin typeface="微软雅黑" pitchFamily="34" charset="-122"/>
              <a:ea typeface="微软雅黑" pitchFamily="34" charset="-122"/>
            </a:endParaRPr>
          </a:p>
          <a:p>
            <a:pPr algn="ctr"/>
            <a:endParaRPr lang="en-US" altLang="zh-CN" sz="1050" dirty="0">
              <a:latin typeface="微软雅黑" pitchFamily="34" charset="-122"/>
              <a:ea typeface="微软雅黑" pitchFamily="34" charset="-122"/>
            </a:endParaRP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1q block:{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Rz q[2];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    }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矩形: 折角 25">
            <a:extLst>
              <a:ext uri="{FF2B5EF4-FFF2-40B4-BE49-F238E27FC236}">
                <a16:creationId xmlns:a16="http://schemas.microsoft.com/office/drawing/2014/main" id="{20E2FE05-0BFE-BD25-EA2B-7944FF0600ED}"/>
              </a:ext>
            </a:extLst>
          </p:cNvPr>
          <p:cNvSpPr/>
          <p:nvPr/>
        </p:nvSpPr>
        <p:spPr>
          <a:xfrm>
            <a:off x="9142517" y="5186782"/>
            <a:ext cx="1299412" cy="1088790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en-US" altLang="zh-CN" sz="1050" dirty="0">
              <a:latin typeface="微软雅黑" pitchFamily="34" charset="-122"/>
              <a:ea typeface="微软雅黑" pitchFamily="34" charset="-122"/>
            </a:endParaRP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AOD move;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Zone </a:t>
            </a:r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cz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;</a:t>
            </a:r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F786BBC8-E2A6-3157-586A-E21F18DDBC32}"/>
              </a:ext>
            </a:extLst>
          </p:cNvPr>
          <p:cNvSpPr/>
          <p:nvPr/>
        </p:nvSpPr>
        <p:spPr>
          <a:xfrm>
            <a:off x="9669393" y="2428193"/>
            <a:ext cx="245660" cy="307708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箭头: 下 28">
            <a:extLst>
              <a:ext uri="{FF2B5EF4-FFF2-40B4-BE49-F238E27FC236}">
                <a16:creationId xmlns:a16="http://schemas.microsoft.com/office/drawing/2014/main" id="{81EC97A4-7687-39C8-3921-C760ADF9C8E2}"/>
              </a:ext>
            </a:extLst>
          </p:cNvPr>
          <p:cNvSpPr/>
          <p:nvPr/>
        </p:nvSpPr>
        <p:spPr>
          <a:xfrm>
            <a:off x="9669393" y="4441065"/>
            <a:ext cx="245660" cy="307708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4910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C8DA20-C57A-7BFC-EA14-94450A9E2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2</a:t>
            </a:fld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60E9D4F-C9FA-372F-14AD-9B13D5BA7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量子比特路由算法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0FB4284-32BE-F0D1-EC98-274DDE77F430}"/>
              </a:ext>
            </a:extLst>
          </p:cNvPr>
          <p:cNvSpPr/>
          <p:nvPr/>
        </p:nvSpPr>
        <p:spPr>
          <a:xfrm>
            <a:off x="413982" y="2425930"/>
            <a:ext cx="900754" cy="46166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200" dirty="0" err="1">
                <a:latin typeface="微软雅黑" pitchFamily="34" charset="-122"/>
                <a:ea typeface="微软雅黑" pitchFamily="34" charset="-122"/>
              </a:rPr>
              <a:t>aod</a:t>
            </a:r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 crowding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E7AD66-C3FB-E339-F2EE-0035AE630D85}"/>
              </a:ext>
            </a:extLst>
          </p:cNvPr>
          <p:cNvSpPr/>
          <p:nvPr/>
        </p:nvSpPr>
        <p:spPr>
          <a:xfrm>
            <a:off x="1612711" y="2333596"/>
            <a:ext cx="900754" cy="64633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same move vector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796084-D070-CE75-128D-202F19EC7FF3}"/>
              </a:ext>
            </a:extLst>
          </p:cNvPr>
          <p:cNvSpPr/>
          <p:nvPr/>
        </p:nvSpPr>
        <p:spPr>
          <a:xfrm>
            <a:off x="2720454" y="2518261"/>
            <a:ext cx="1096369" cy="27699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connectivity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BF01818-E6A3-B987-1E09-8CAA92630398}"/>
              </a:ext>
            </a:extLst>
          </p:cNvPr>
          <p:cNvSpPr/>
          <p:nvPr/>
        </p:nvSpPr>
        <p:spPr>
          <a:xfrm>
            <a:off x="307074" y="3264733"/>
            <a:ext cx="3616656" cy="30777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z3 solver constraints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126F52F-619E-B136-6CAC-D1D8086FEDCB}"/>
              </a:ext>
            </a:extLst>
          </p:cNvPr>
          <p:cNvSpPr/>
          <p:nvPr/>
        </p:nvSpPr>
        <p:spPr>
          <a:xfrm>
            <a:off x="307073" y="2000701"/>
            <a:ext cx="3616657" cy="102217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program/hardware constraints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49124D2-DED1-FAEB-35E6-E13DC1033F3F}"/>
              </a:ext>
            </a:extLst>
          </p:cNvPr>
          <p:cNvSpPr/>
          <p:nvPr/>
        </p:nvSpPr>
        <p:spPr>
          <a:xfrm>
            <a:off x="307074" y="3850756"/>
            <a:ext cx="3616656" cy="30777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z3 solver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306BF63-562E-181C-5FE9-EB1CB65C905B}"/>
              </a:ext>
            </a:extLst>
          </p:cNvPr>
          <p:cNvSpPr/>
          <p:nvPr/>
        </p:nvSpPr>
        <p:spPr>
          <a:xfrm>
            <a:off x="307074" y="4436779"/>
            <a:ext cx="3616656" cy="30777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hardware IR: move/zone </a:t>
            </a:r>
            <a:r>
              <a:rPr lang="en-US" altLang="zh-CN" sz="1400" dirty="0" err="1">
                <a:latin typeface="微软雅黑" pitchFamily="34" charset="-122"/>
                <a:ea typeface="微软雅黑" pitchFamily="34" charset="-122"/>
              </a:rPr>
              <a:t>cz</a:t>
            </a:r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/…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箭头: 下 15">
            <a:extLst>
              <a:ext uri="{FF2B5EF4-FFF2-40B4-BE49-F238E27FC236}">
                <a16:creationId xmlns:a16="http://schemas.microsoft.com/office/drawing/2014/main" id="{5AA71AA4-0143-73E9-26B3-2DB96756967B}"/>
              </a:ext>
            </a:extLst>
          </p:cNvPr>
          <p:cNvSpPr/>
          <p:nvPr/>
        </p:nvSpPr>
        <p:spPr>
          <a:xfrm>
            <a:off x="1978926" y="3057099"/>
            <a:ext cx="122830" cy="16468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箭头: 下 17">
            <a:extLst>
              <a:ext uri="{FF2B5EF4-FFF2-40B4-BE49-F238E27FC236}">
                <a16:creationId xmlns:a16="http://schemas.microsoft.com/office/drawing/2014/main" id="{3D1B5620-4A0F-BCFA-8455-7AEC620B0B69}"/>
              </a:ext>
            </a:extLst>
          </p:cNvPr>
          <p:cNvSpPr/>
          <p:nvPr/>
        </p:nvSpPr>
        <p:spPr>
          <a:xfrm>
            <a:off x="1978926" y="3647489"/>
            <a:ext cx="122830" cy="16468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箭头: 下 19">
            <a:extLst>
              <a:ext uri="{FF2B5EF4-FFF2-40B4-BE49-F238E27FC236}">
                <a16:creationId xmlns:a16="http://schemas.microsoft.com/office/drawing/2014/main" id="{EF87439D-C085-8B29-30B9-F8C4C05D0B8D}"/>
              </a:ext>
            </a:extLst>
          </p:cNvPr>
          <p:cNvSpPr/>
          <p:nvPr/>
        </p:nvSpPr>
        <p:spPr>
          <a:xfrm>
            <a:off x="1978926" y="4197119"/>
            <a:ext cx="122830" cy="16468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235DE36-378C-5906-2A9A-A1966CB5527C}"/>
              </a:ext>
            </a:extLst>
          </p:cNvPr>
          <p:cNvSpPr txBox="1"/>
          <p:nvPr/>
        </p:nvSpPr>
        <p:spPr>
          <a:xfrm>
            <a:off x="1278258" y="137258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约束求解算法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139EF2-8587-450D-BF3D-C2786CCBC26E}"/>
              </a:ext>
            </a:extLst>
          </p:cNvPr>
          <p:cNvSpPr txBox="1"/>
          <p:nvPr/>
        </p:nvSpPr>
        <p:spPr>
          <a:xfrm>
            <a:off x="5333914" y="13725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启发式贪心算法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8CDF3AA-CDDB-7288-5CB3-8C619F2023E0}"/>
              </a:ext>
            </a:extLst>
          </p:cNvPr>
          <p:cNvSpPr txBox="1"/>
          <p:nvPr/>
        </p:nvSpPr>
        <p:spPr>
          <a:xfrm>
            <a:off x="9234856" y="1372589"/>
            <a:ext cx="875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算法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9F7B29A-0F5D-18A1-0FBB-B36F600A533F}"/>
              </a:ext>
            </a:extLst>
          </p:cNvPr>
          <p:cNvSpPr/>
          <p:nvPr/>
        </p:nvSpPr>
        <p:spPr>
          <a:xfrm>
            <a:off x="5197523" y="2025819"/>
            <a:ext cx="2204109" cy="30777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Initial state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8DD04CC-AC0F-4EA2-AF16-0801DFCA5098}"/>
              </a:ext>
            </a:extLst>
          </p:cNvPr>
          <p:cNvSpPr/>
          <p:nvPr/>
        </p:nvSpPr>
        <p:spPr>
          <a:xfrm>
            <a:off x="5197523" y="2795260"/>
            <a:ext cx="2204109" cy="30777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Candidate actions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3D23132-5A7D-5EC4-A383-850369305A69}"/>
              </a:ext>
            </a:extLst>
          </p:cNvPr>
          <p:cNvSpPr/>
          <p:nvPr/>
        </p:nvSpPr>
        <p:spPr>
          <a:xfrm>
            <a:off x="5197523" y="3658281"/>
            <a:ext cx="2204109" cy="30777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Heuristic cost function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8DD04CC-AC0F-4EA2-AF16-0801DFCA5098}"/>
              </a:ext>
            </a:extLst>
          </p:cNvPr>
          <p:cNvSpPr/>
          <p:nvPr/>
        </p:nvSpPr>
        <p:spPr>
          <a:xfrm>
            <a:off x="5197522" y="4521302"/>
            <a:ext cx="2204109" cy="30777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Action selection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8930F52-79A1-E857-CE7C-592E99956430}"/>
              </a:ext>
            </a:extLst>
          </p:cNvPr>
          <p:cNvSpPr/>
          <p:nvPr/>
        </p:nvSpPr>
        <p:spPr>
          <a:xfrm>
            <a:off x="5197522" y="5370441"/>
            <a:ext cx="2204109" cy="30777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State transition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72D6372-686A-D97C-5555-28CA38FE577E}"/>
              </a:ext>
            </a:extLst>
          </p:cNvPr>
          <p:cNvCxnSpPr>
            <a:stCxn id="27" idx="2"/>
            <a:endCxn id="29" idx="0"/>
          </p:cNvCxnSpPr>
          <p:nvPr/>
        </p:nvCxnSpPr>
        <p:spPr>
          <a:xfrm>
            <a:off x="6299578" y="2333596"/>
            <a:ext cx="0" cy="46166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8268A85F-D794-CE6E-07BA-EF756CC40D4E}"/>
              </a:ext>
            </a:extLst>
          </p:cNvPr>
          <p:cNvCxnSpPr>
            <a:stCxn id="29" idx="2"/>
            <a:endCxn id="31" idx="0"/>
          </p:cNvCxnSpPr>
          <p:nvPr/>
        </p:nvCxnSpPr>
        <p:spPr>
          <a:xfrm>
            <a:off x="6299578" y="3103037"/>
            <a:ext cx="0" cy="5552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2F72D897-4486-4B46-4FB1-96A02237C5AB}"/>
              </a:ext>
            </a:extLst>
          </p:cNvPr>
          <p:cNvCxnSpPr>
            <a:stCxn id="31" idx="2"/>
            <a:endCxn id="32" idx="0"/>
          </p:cNvCxnSpPr>
          <p:nvPr/>
        </p:nvCxnSpPr>
        <p:spPr>
          <a:xfrm flipH="1">
            <a:off x="6299577" y="3966058"/>
            <a:ext cx="1" cy="55524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D3F1F8CB-D790-3C8E-52EA-133B755FFA06}"/>
              </a:ext>
            </a:extLst>
          </p:cNvPr>
          <p:cNvCxnSpPr>
            <a:stCxn id="32" idx="2"/>
            <a:endCxn id="34" idx="0"/>
          </p:cNvCxnSpPr>
          <p:nvPr/>
        </p:nvCxnSpPr>
        <p:spPr>
          <a:xfrm>
            <a:off x="6299577" y="4829079"/>
            <a:ext cx="0" cy="5413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69DB14EB-E0A9-B57C-4369-02614FC7DCED}"/>
              </a:ext>
            </a:extLst>
          </p:cNvPr>
          <p:cNvCxnSpPr>
            <a:stCxn id="34" idx="1"/>
            <a:endCxn id="29" idx="1"/>
          </p:cNvCxnSpPr>
          <p:nvPr/>
        </p:nvCxnSpPr>
        <p:spPr>
          <a:xfrm rot="10800000" flipH="1">
            <a:off x="5197521" y="2949150"/>
            <a:ext cx="1" cy="2575181"/>
          </a:xfrm>
          <a:prstGeom prst="bentConnector3">
            <a:avLst>
              <a:gd name="adj1" fmla="val -2286000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25C2C8EB-0C08-AD2E-53DE-4553E14C03E5}"/>
              </a:ext>
            </a:extLst>
          </p:cNvPr>
          <p:cNvSpPr/>
          <p:nvPr/>
        </p:nvSpPr>
        <p:spPr>
          <a:xfrm>
            <a:off x="8419908" y="2631832"/>
            <a:ext cx="980865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Site token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453D6F80-B849-FD1C-555B-970102692FC9}"/>
              </a:ext>
            </a:extLst>
          </p:cNvPr>
          <p:cNvSpPr/>
          <p:nvPr/>
        </p:nvSpPr>
        <p:spPr>
          <a:xfrm>
            <a:off x="9502759" y="2631832"/>
            <a:ext cx="980865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Channel token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630CE115-9CED-9EA3-EA0C-A2A1ECEBB0F9}"/>
              </a:ext>
            </a:extLst>
          </p:cNvPr>
          <p:cNvSpPr/>
          <p:nvPr/>
        </p:nvSpPr>
        <p:spPr>
          <a:xfrm>
            <a:off x="10585610" y="2631832"/>
            <a:ext cx="980865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Qubit token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0047C99-51AB-E820-17F2-E500B05FC5FC}"/>
              </a:ext>
            </a:extLst>
          </p:cNvPr>
          <p:cNvSpPr/>
          <p:nvPr/>
        </p:nvSpPr>
        <p:spPr>
          <a:xfrm>
            <a:off x="8419909" y="3745616"/>
            <a:ext cx="3146566" cy="82583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Transformer encoder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箭头: 下 53">
            <a:extLst>
              <a:ext uri="{FF2B5EF4-FFF2-40B4-BE49-F238E27FC236}">
                <a16:creationId xmlns:a16="http://schemas.microsoft.com/office/drawing/2014/main" id="{756C40C0-F220-74EB-5E47-2545C5B8496C}"/>
              </a:ext>
            </a:extLst>
          </p:cNvPr>
          <p:cNvSpPr/>
          <p:nvPr/>
        </p:nvSpPr>
        <p:spPr>
          <a:xfrm>
            <a:off x="8848925" y="3422716"/>
            <a:ext cx="122830" cy="16468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6" name="箭头: 下 55">
            <a:extLst>
              <a:ext uri="{FF2B5EF4-FFF2-40B4-BE49-F238E27FC236}">
                <a16:creationId xmlns:a16="http://schemas.microsoft.com/office/drawing/2014/main" id="{0E9D20EA-3A15-7763-A06C-B97D5EC364BB}"/>
              </a:ext>
            </a:extLst>
          </p:cNvPr>
          <p:cNvSpPr/>
          <p:nvPr/>
        </p:nvSpPr>
        <p:spPr>
          <a:xfrm>
            <a:off x="9937585" y="3422716"/>
            <a:ext cx="122830" cy="16468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8" name="箭头: 下 57">
            <a:extLst>
              <a:ext uri="{FF2B5EF4-FFF2-40B4-BE49-F238E27FC236}">
                <a16:creationId xmlns:a16="http://schemas.microsoft.com/office/drawing/2014/main" id="{95E46B82-4DB2-97D6-991D-D9C8B47096AF}"/>
              </a:ext>
            </a:extLst>
          </p:cNvPr>
          <p:cNvSpPr/>
          <p:nvPr/>
        </p:nvSpPr>
        <p:spPr>
          <a:xfrm>
            <a:off x="11014627" y="3422716"/>
            <a:ext cx="122830" cy="16468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971206D9-EE26-9BAC-7E01-B6F235635795}"/>
              </a:ext>
            </a:extLst>
          </p:cNvPr>
          <p:cNvCxnSpPr>
            <a:stCxn id="31" idx="3"/>
          </p:cNvCxnSpPr>
          <p:nvPr/>
        </p:nvCxnSpPr>
        <p:spPr>
          <a:xfrm flipV="1">
            <a:off x="7401632" y="2556681"/>
            <a:ext cx="890517" cy="1255489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3EE0D60B-7B0F-1D97-48C1-50AEA7181E93}"/>
              </a:ext>
            </a:extLst>
          </p:cNvPr>
          <p:cNvCxnSpPr>
            <a:stCxn id="31" idx="3"/>
          </p:cNvCxnSpPr>
          <p:nvPr/>
        </p:nvCxnSpPr>
        <p:spPr>
          <a:xfrm>
            <a:off x="7401632" y="3812170"/>
            <a:ext cx="890517" cy="10169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625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C5D8D3A-EDB8-92E9-9C6C-03D489AA1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SMT </a:t>
            </a:r>
            <a:r>
              <a:rPr lang="en-US" altLang="zh-CN" dirty="0" err="1"/>
              <a:t>v.s</a:t>
            </a:r>
            <a:r>
              <a:rPr lang="en-US" altLang="zh-CN" dirty="0"/>
              <a:t>. heuristic-</a:t>
            </a:r>
            <a:r>
              <a:rPr lang="zh-CN" altLang="en-US" dirty="0"/>
              <a:t>优化效果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7B51378F-E0DB-E5EA-F78A-C6364610C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2000" b="0" dirty="0"/>
              <a:t>测试线路 </a:t>
            </a:r>
            <a:r>
              <a:rPr lang="en-US" altLang="zh-CN" sz="2000" b="0" dirty="0"/>
              <a:t>10 </a:t>
            </a:r>
            <a:r>
              <a:rPr lang="zh-CN" altLang="en-US" sz="2000" b="0" dirty="0"/>
              <a:t>个，</a:t>
            </a:r>
            <a:r>
              <a:rPr lang="en-US" altLang="zh-CN" sz="2000" b="0" dirty="0" err="1"/>
              <a:t>qubit_num</a:t>
            </a:r>
            <a:r>
              <a:rPr lang="en-US" altLang="zh-CN" sz="2000" b="0" dirty="0"/>
              <a:t>: 7, </a:t>
            </a:r>
            <a:r>
              <a:rPr lang="en-US" altLang="zh-CN" sz="2000" b="0" dirty="0" err="1"/>
              <a:t>layer_num</a:t>
            </a:r>
            <a:r>
              <a:rPr lang="en-US" altLang="zh-CN" sz="2000" b="0" dirty="0"/>
              <a:t>: 3, </a:t>
            </a:r>
            <a:r>
              <a:rPr lang="en-US" altLang="zh-CN" sz="2000" b="0" dirty="0" err="1"/>
              <a:t>gate_num</a:t>
            </a:r>
            <a:r>
              <a:rPr lang="en-US" altLang="zh-CN" sz="2000" b="0" dirty="0"/>
              <a:t>: 9</a:t>
            </a:r>
          </a:p>
          <a:p>
            <a:r>
              <a:rPr lang="zh-CN" altLang="en-US" sz="2000" b="0" dirty="0"/>
              <a:t>阵列：</a:t>
            </a:r>
            <a:r>
              <a:rPr lang="en-US" altLang="zh-CN" sz="2000" b="0" dirty="0"/>
              <a:t>3×6</a:t>
            </a:r>
          </a:p>
          <a:p>
            <a:r>
              <a:rPr lang="en-US" altLang="zh-CN" sz="2000" b="0" dirty="0"/>
              <a:t>AOD stage: 1.68×</a:t>
            </a:r>
          </a:p>
          <a:p>
            <a:r>
              <a:rPr lang="en-US" altLang="zh-CN" sz="2000" b="0" dirty="0"/>
              <a:t>Routing time: 1.95×</a:t>
            </a:r>
          </a:p>
          <a:p>
            <a:r>
              <a:rPr lang="zh-CN" altLang="en-US" sz="2000" b="0" dirty="0"/>
              <a:t>平均编译时间</a:t>
            </a:r>
            <a:r>
              <a:rPr lang="en-US" altLang="zh-CN" sz="2000" b="0" dirty="0"/>
              <a:t>: 52(SMT), 0.0046(</a:t>
            </a:r>
            <a:r>
              <a:rPr lang="en-US" altLang="zh-CN" sz="2000" b="0" dirty="0" err="1"/>
              <a:t>heu</a:t>
            </a:r>
            <a:r>
              <a:rPr lang="en-US" altLang="zh-CN" sz="2000" b="0" dirty="0"/>
              <a:t>)</a:t>
            </a:r>
            <a:endParaRPr lang="zh-CN" altLang="en-US" sz="2000" b="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120749C-19EE-006B-3B19-3AD90DF97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3</a:t>
            </a:fld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BE2F77C-7D80-8D2F-D30F-61CE08DEE9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8995" y="1277160"/>
            <a:ext cx="6143210" cy="183379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9E7B1303-EA8E-3632-2BB1-83F7C7A215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5" y="3461563"/>
            <a:ext cx="5773384" cy="301910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2665826-D5E9-1ED1-09A1-7E0201E6F0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2363" y="3461563"/>
            <a:ext cx="5773384" cy="301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223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D99FB6-8FBD-ED60-D53E-90D468E2B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SMT </a:t>
            </a:r>
            <a:r>
              <a:rPr lang="en-US" altLang="zh-CN" dirty="0" err="1"/>
              <a:t>v.s</a:t>
            </a:r>
            <a:r>
              <a:rPr lang="en-US" altLang="zh-CN" dirty="0"/>
              <a:t>. heuristic-</a:t>
            </a:r>
            <a:r>
              <a:rPr lang="zh-CN" altLang="en-US" dirty="0"/>
              <a:t>扩展性能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9F9B3C-1C22-3A4E-A11B-31628F14F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007" y="890649"/>
            <a:ext cx="11720945" cy="1020038"/>
          </a:xfrm>
        </p:spPr>
        <p:txBody>
          <a:bodyPr/>
          <a:lstStyle/>
          <a:p>
            <a:r>
              <a:rPr lang="en-US" altLang="zh-CN" dirty="0"/>
              <a:t>SMT</a:t>
            </a:r>
            <a:r>
              <a:rPr lang="zh-CN" altLang="en-US" dirty="0"/>
              <a:t>指数增长趋势</a:t>
            </a:r>
            <a:endParaRPr lang="en-US" altLang="zh-CN" dirty="0"/>
          </a:p>
          <a:p>
            <a:r>
              <a:rPr lang="en-US" altLang="zh-CN" dirty="0"/>
              <a:t>Heuristic</a:t>
            </a:r>
            <a:r>
              <a:rPr lang="zh-CN" altLang="en-US" dirty="0"/>
              <a:t>线性增长趋势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68DC245-23DD-FAD3-3607-826AD629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4</a:t>
            </a:fld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F22DD0B-AEF7-5F61-35B4-6808DEAE02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507" y="2062443"/>
            <a:ext cx="5653719" cy="232303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45233E52-F9ED-E8C1-7BC7-AE23BDF81C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9790" y="646951"/>
            <a:ext cx="5576218" cy="414891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5EE1617-084E-63B7-944B-958A7E3701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6517" y="1785534"/>
            <a:ext cx="6285475" cy="467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33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180BECA-FA37-E887-B45C-811CEDB09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启发式算法</a:t>
            </a:r>
            <a:r>
              <a:rPr lang="en-US" altLang="zh-CN" dirty="0"/>
              <a:t>-</a:t>
            </a:r>
            <a:r>
              <a:rPr lang="zh-CN" altLang="en-US" dirty="0"/>
              <a:t>状态</a:t>
            </a:r>
            <a:r>
              <a:rPr lang="en-US" altLang="zh-CN" dirty="0"/>
              <a:t>/</a:t>
            </a:r>
            <a:r>
              <a:rPr lang="zh-CN" altLang="en-US" dirty="0"/>
              <a:t>动作空间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C662FDF-8A0F-AB72-B66F-B8412D3314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007" y="890649"/>
            <a:ext cx="4896593" cy="5367646"/>
          </a:xfrm>
        </p:spPr>
        <p:txBody>
          <a:bodyPr/>
          <a:lstStyle/>
          <a:p>
            <a:r>
              <a:rPr lang="zh-CN" altLang="en-US" dirty="0"/>
              <a:t>状态</a:t>
            </a:r>
            <a:endParaRPr lang="en-US" altLang="zh-CN" dirty="0"/>
          </a:p>
          <a:p>
            <a:pPr lvl="1"/>
            <a:r>
              <a:rPr lang="zh-CN" altLang="en-US" dirty="0"/>
              <a:t>量子比特位置</a:t>
            </a:r>
            <a:endParaRPr lang="en-US" altLang="zh-CN" dirty="0"/>
          </a:p>
          <a:p>
            <a:pPr lvl="1"/>
            <a:r>
              <a:rPr lang="zh-CN" altLang="en-US" dirty="0"/>
              <a:t>待执行量子门</a:t>
            </a:r>
            <a:endParaRPr lang="en-US" altLang="zh-CN" dirty="0"/>
          </a:p>
          <a:p>
            <a:pPr lvl="1"/>
            <a:r>
              <a:rPr lang="en-US" altLang="zh-CN" dirty="0"/>
              <a:t>AOD stage queue</a:t>
            </a:r>
          </a:p>
          <a:p>
            <a:r>
              <a:rPr lang="zh-CN" altLang="en-US" dirty="0"/>
              <a:t>动作</a:t>
            </a:r>
            <a:endParaRPr lang="en-US" altLang="zh-CN" dirty="0"/>
          </a:p>
          <a:p>
            <a:pPr lvl="1"/>
            <a:r>
              <a:rPr lang="en-US" altLang="zh-CN" dirty="0"/>
              <a:t>Step1 </a:t>
            </a:r>
            <a:r>
              <a:rPr lang="zh-CN" altLang="en-US" dirty="0"/>
              <a:t>位置分配</a:t>
            </a:r>
            <a:endParaRPr lang="en-US" altLang="zh-CN" dirty="0"/>
          </a:p>
          <a:p>
            <a:pPr lvl="2"/>
            <a:r>
              <a:rPr lang="zh-CN" altLang="en-US" dirty="0"/>
              <a:t>给每个量子比特分配新位置</a:t>
            </a:r>
            <a:endParaRPr lang="en-US" altLang="zh-CN" dirty="0"/>
          </a:p>
          <a:p>
            <a:pPr lvl="1"/>
            <a:r>
              <a:rPr lang="en-US" altLang="zh-CN" dirty="0"/>
              <a:t>Step2 AOD</a:t>
            </a:r>
            <a:r>
              <a:rPr lang="zh-CN" altLang="en-US" dirty="0"/>
              <a:t>调度</a:t>
            </a:r>
            <a:endParaRPr lang="en-US" altLang="zh-CN" dirty="0"/>
          </a:p>
          <a:p>
            <a:pPr lvl="2"/>
            <a:r>
              <a:rPr lang="en-US" altLang="zh-CN" dirty="0"/>
              <a:t>move</a:t>
            </a:r>
            <a:r>
              <a:rPr lang="zh-CN" altLang="en-US" dirty="0"/>
              <a:t>加入</a:t>
            </a:r>
            <a:r>
              <a:rPr lang="en-US" altLang="zh-CN" dirty="0"/>
              <a:t>AOD stage queue</a:t>
            </a:r>
            <a:endParaRPr lang="zh-CN" altLang="en-US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B4500FD-48AF-1E60-F846-EB3B9728F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5</a:t>
            </a:fld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F15523D-2FEB-54B8-8913-784F9E734706}"/>
              </a:ext>
            </a:extLst>
          </p:cNvPr>
          <p:cNvSpPr>
            <a:spLocks noChangeAspect="1"/>
          </p:cNvSpPr>
          <p:nvPr/>
        </p:nvSpPr>
        <p:spPr>
          <a:xfrm>
            <a:off x="7077998" y="121724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0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6B67B01-993E-A8A5-0523-08309E533E51}"/>
              </a:ext>
            </a:extLst>
          </p:cNvPr>
          <p:cNvSpPr>
            <a:spLocks noChangeAspect="1"/>
          </p:cNvSpPr>
          <p:nvPr/>
        </p:nvSpPr>
        <p:spPr>
          <a:xfrm>
            <a:off x="8034097" y="121724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D91F09A7-B792-3C3F-4E92-FFB03EEF4CCD}"/>
              </a:ext>
            </a:extLst>
          </p:cNvPr>
          <p:cNvSpPr>
            <a:spLocks noChangeAspect="1"/>
          </p:cNvSpPr>
          <p:nvPr/>
        </p:nvSpPr>
        <p:spPr>
          <a:xfrm>
            <a:off x="7077998" y="180991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2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25A9B1E-CB34-AEE1-FC18-78EF9D20F9D2}"/>
              </a:ext>
            </a:extLst>
          </p:cNvPr>
          <p:cNvSpPr>
            <a:spLocks noChangeAspect="1"/>
          </p:cNvSpPr>
          <p:nvPr/>
        </p:nvSpPr>
        <p:spPr>
          <a:xfrm>
            <a:off x="8034097" y="180991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D934D91-D8ED-6804-2C30-17C0E96E1E9D}"/>
              </a:ext>
            </a:extLst>
          </p:cNvPr>
          <p:cNvSpPr>
            <a:spLocks noChangeAspect="1"/>
          </p:cNvSpPr>
          <p:nvPr/>
        </p:nvSpPr>
        <p:spPr>
          <a:xfrm>
            <a:off x="7270123" y="121663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1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9FF3FAE4-A311-7BAC-6FAF-6AC68B416F8F}"/>
              </a:ext>
            </a:extLst>
          </p:cNvPr>
          <p:cNvSpPr>
            <a:spLocks noChangeAspect="1"/>
          </p:cNvSpPr>
          <p:nvPr/>
        </p:nvSpPr>
        <p:spPr>
          <a:xfrm>
            <a:off x="8226222" y="121663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B2512C51-8A1C-713B-28E5-8B6D0CADE985}"/>
              </a:ext>
            </a:extLst>
          </p:cNvPr>
          <p:cNvSpPr>
            <a:spLocks noChangeAspect="1"/>
          </p:cNvSpPr>
          <p:nvPr/>
        </p:nvSpPr>
        <p:spPr>
          <a:xfrm>
            <a:off x="7270123" y="180930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3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F49376E3-3B6C-F926-89FF-A71CC5A12AD8}"/>
              </a:ext>
            </a:extLst>
          </p:cNvPr>
          <p:cNvSpPr>
            <a:spLocks noChangeAspect="1"/>
          </p:cNvSpPr>
          <p:nvPr/>
        </p:nvSpPr>
        <p:spPr>
          <a:xfrm>
            <a:off x="8226222" y="180930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CA22F78-0BFE-C19D-4C4F-91A952DE6E1C}"/>
              </a:ext>
            </a:extLst>
          </p:cNvPr>
          <p:cNvSpPr txBox="1"/>
          <p:nvPr/>
        </p:nvSpPr>
        <p:spPr>
          <a:xfrm>
            <a:off x="8755967" y="1083500"/>
            <a:ext cx="105028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cz</a:t>
            </a:r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q0, q1; </a:t>
            </a:r>
          </a:p>
          <a:p>
            <a:pPr algn="l"/>
            <a:r>
              <a:rPr lang="en-US" altLang="zh-CN" sz="140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cz</a:t>
            </a:r>
            <a:r>
              <a:rPr lang="en-US" altLang="zh-CN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q2, q3;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pPr algn="l"/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cz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q0, q2; </a:t>
            </a:r>
          </a:p>
          <a:p>
            <a:pPr algn="l"/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cz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q1, q3;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C16C94A4-D4B9-FDED-B9FF-EF86C49401B3}"/>
              </a:ext>
            </a:extLst>
          </p:cNvPr>
          <p:cNvSpPr/>
          <p:nvPr/>
        </p:nvSpPr>
        <p:spPr>
          <a:xfrm>
            <a:off x="7033146" y="1127804"/>
            <a:ext cx="423081" cy="318857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9449C44B-D9AE-65B8-2893-8C126B9BCF09}"/>
              </a:ext>
            </a:extLst>
          </p:cNvPr>
          <p:cNvSpPr/>
          <p:nvPr/>
        </p:nvSpPr>
        <p:spPr>
          <a:xfrm>
            <a:off x="7040386" y="1718750"/>
            <a:ext cx="423081" cy="318857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399D24C-2728-98B6-C8E9-3624F5F2249E}"/>
              </a:ext>
            </a:extLst>
          </p:cNvPr>
          <p:cNvSpPr>
            <a:spLocks noChangeAspect="1"/>
          </p:cNvSpPr>
          <p:nvPr/>
        </p:nvSpPr>
        <p:spPr>
          <a:xfrm>
            <a:off x="7077998" y="304113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0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8ABE66F8-0858-36F8-9885-9D3EB056ED9F}"/>
              </a:ext>
            </a:extLst>
          </p:cNvPr>
          <p:cNvSpPr>
            <a:spLocks noChangeAspect="1"/>
          </p:cNvSpPr>
          <p:nvPr/>
        </p:nvSpPr>
        <p:spPr>
          <a:xfrm>
            <a:off x="8034097" y="3041133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1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A2E15944-1706-9634-83C6-F773F1523BDC}"/>
              </a:ext>
            </a:extLst>
          </p:cNvPr>
          <p:cNvSpPr>
            <a:spLocks noChangeAspect="1"/>
          </p:cNvSpPr>
          <p:nvPr/>
        </p:nvSpPr>
        <p:spPr>
          <a:xfrm>
            <a:off x="7077998" y="363380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2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BA498986-808B-877C-CFF1-ECFE860241AF}"/>
              </a:ext>
            </a:extLst>
          </p:cNvPr>
          <p:cNvSpPr>
            <a:spLocks noChangeAspect="1"/>
          </p:cNvSpPr>
          <p:nvPr/>
        </p:nvSpPr>
        <p:spPr>
          <a:xfrm>
            <a:off x="8034097" y="363380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864E84E-8C86-5CF3-A7F7-ACFA9B44917B}"/>
              </a:ext>
            </a:extLst>
          </p:cNvPr>
          <p:cNvSpPr>
            <a:spLocks noChangeAspect="1"/>
          </p:cNvSpPr>
          <p:nvPr/>
        </p:nvSpPr>
        <p:spPr>
          <a:xfrm>
            <a:off x="7270123" y="304052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89B27C92-6104-477B-8D94-BE6EFEC5BAF8}"/>
              </a:ext>
            </a:extLst>
          </p:cNvPr>
          <p:cNvSpPr>
            <a:spLocks noChangeAspect="1"/>
          </p:cNvSpPr>
          <p:nvPr/>
        </p:nvSpPr>
        <p:spPr>
          <a:xfrm>
            <a:off x="8226222" y="304052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3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91A05B74-481C-BADB-30F6-CCE5EEB99377}"/>
              </a:ext>
            </a:extLst>
          </p:cNvPr>
          <p:cNvSpPr>
            <a:spLocks noChangeAspect="1"/>
          </p:cNvSpPr>
          <p:nvPr/>
        </p:nvSpPr>
        <p:spPr>
          <a:xfrm>
            <a:off x="7270123" y="363319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0188699-E17B-8F27-4CE2-1FFF77E16347}"/>
              </a:ext>
            </a:extLst>
          </p:cNvPr>
          <p:cNvSpPr>
            <a:spLocks noChangeAspect="1"/>
          </p:cNvSpPr>
          <p:nvPr/>
        </p:nvSpPr>
        <p:spPr>
          <a:xfrm>
            <a:off x="8226222" y="3633192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E10C426D-16A4-4615-1609-E98B434CC385}"/>
              </a:ext>
            </a:extLst>
          </p:cNvPr>
          <p:cNvSpPr/>
          <p:nvPr/>
        </p:nvSpPr>
        <p:spPr>
          <a:xfrm>
            <a:off x="7031927" y="5030053"/>
            <a:ext cx="423081" cy="318857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C6F09E87-BCCA-9FAF-50BF-F776618C850A}"/>
              </a:ext>
            </a:extLst>
          </p:cNvPr>
          <p:cNvSpPr/>
          <p:nvPr/>
        </p:nvSpPr>
        <p:spPr>
          <a:xfrm>
            <a:off x="7965337" y="5030053"/>
            <a:ext cx="423081" cy="318857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E20D8916-5D91-A5C2-68E8-0AFE4E363D2C}"/>
              </a:ext>
            </a:extLst>
          </p:cNvPr>
          <p:cNvSpPr>
            <a:spLocks noChangeAspect="1"/>
          </p:cNvSpPr>
          <p:nvPr/>
        </p:nvSpPr>
        <p:spPr>
          <a:xfrm>
            <a:off x="7077998" y="512696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0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1AD67548-C296-FA53-3205-DB92ACFFD05B}"/>
              </a:ext>
            </a:extLst>
          </p:cNvPr>
          <p:cNvSpPr>
            <a:spLocks noChangeAspect="1"/>
          </p:cNvSpPr>
          <p:nvPr/>
        </p:nvSpPr>
        <p:spPr>
          <a:xfrm>
            <a:off x="8034097" y="5126968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1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451D6ACD-EBF5-F362-C93F-D7D4C39BD748}"/>
              </a:ext>
            </a:extLst>
          </p:cNvPr>
          <p:cNvSpPr>
            <a:spLocks noChangeAspect="1"/>
          </p:cNvSpPr>
          <p:nvPr/>
        </p:nvSpPr>
        <p:spPr>
          <a:xfrm>
            <a:off x="7077998" y="571964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312106CB-80D5-293A-2160-3F9ED257127D}"/>
              </a:ext>
            </a:extLst>
          </p:cNvPr>
          <p:cNvSpPr>
            <a:spLocks noChangeAspect="1"/>
          </p:cNvSpPr>
          <p:nvPr/>
        </p:nvSpPr>
        <p:spPr>
          <a:xfrm>
            <a:off x="8034097" y="5719640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39041B7-42B0-75D8-4FC8-BB8A42AF9D1E}"/>
              </a:ext>
            </a:extLst>
          </p:cNvPr>
          <p:cNvSpPr>
            <a:spLocks noChangeAspect="1"/>
          </p:cNvSpPr>
          <p:nvPr/>
        </p:nvSpPr>
        <p:spPr>
          <a:xfrm>
            <a:off x="7270123" y="512635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2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AF589D27-0A4E-33B2-561A-82239B7040F0}"/>
              </a:ext>
            </a:extLst>
          </p:cNvPr>
          <p:cNvSpPr>
            <a:spLocks noChangeAspect="1"/>
          </p:cNvSpPr>
          <p:nvPr/>
        </p:nvSpPr>
        <p:spPr>
          <a:xfrm>
            <a:off x="8226222" y="5126355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3</a:t>
            </a:r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AEE1FE38-6CD4-0F4E-75CD-8E88FE9B772A}"/>
              </a:ext>
            </a:extLst>
          </p:cNvPr>
          <p:cNvSpPr>
            <a:spLocks noChangeAspect="1"/>
          </p:cNvSpPr>
          <p:nvPr/>
        </p:nvSpPr>
        <p:spPr>
          <a:xfrm>
            <a:off x="7270123" y="571902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sz="12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2A3AD91B-7200-DD12-4B09-4493CC612D64}"/>
              </a:ext>
            </a:extLst>
          </p:cNvPr>
          <p:cNvSpPr>
            <a:spLocks noChangeAspect="1"/>
          </p:cNvSpPr>
          <p:nvPr/>
        </p:nvSpPr>
        <p:spPr>
          <a:xfrm>
            <a:off x="8226222" y="5719027"/>
            <a:ext cx="144000" cy="144000"/>
          </a:xfrm>
          <a:prstGeom prst="ellipse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B06F29B-B847-1366-915F-BAE3E0588A6F}"/>
              </a:ext>
            </a:extLst>
          </p:cNvPr>
          <p:cNvSpPr txBox="1"/>
          <p:nvPr/>
        </p:nvSpPr>
        <p:spPr>
          <a:xfrm>
            <a:off x="10140287" y="1083500"/>
            <a:ext cx="1569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AOD stage queue:[</a:t>
            </a:r>
          </a:p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]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16B034C8-F5B3-BD6D-063E-83E9A98B23C1}"/>
              </a:ext>
            </a:extLst>
          </p:cNvPr>
          <p:cNvSpPr txBox="1"/>
          <p:nvPr/>
        </p:nvSpPr>
        <p:spPr>
          <a:xfrm>
            <a:off x="8755967" y="2910027"/>
            <a:ext cx="10502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cz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q0, q2; </a:t>
            </a:r>
          </a:p>
          <a:p>
            <a:pPr algn="l"/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cz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q1, q3;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8EE76C54-4B41-F148-6BBB-793966ED85D8}"/>
              </a:ext>
            </a:extLst>
          </p:cNvPr>
          <p:cNvCxnSpPr>
            <a:stCxn id="34" idx="6"/>
            <a:endCxn id="28" idx="2"/>
          </p:cNvCxnSpPr>
          <p:nvPr/>
        </p:nvCxnSpPr>
        <p:spPr>
          <a:xfrm>
            <a:off x="7414123" y="3112520"/>
            <a:ext cx="619974" cy="613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4254E51-F05C-5DAA-D7BC-9A9A3A8298D5}"/>
              </a:ext>
            </a:extLst>
          </p:cNvPr>
          <p:cNvCxnSpPr>
            <a:stCxn id="38" idx="6"/>
            <a:endCxn id="36" idx="4"/>
          </p:cNvCxnSpPr>
          <p:nvPr/>
        </p:nvCxnSpPr>
        <p:spPr>
          <a:xfrm flipV="1">
            <a:off x="7414123" y="3184520"/>
            <a:ext cx="884099" cy="52067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D32DE60D-A550-23CE-4C70-C236B10D1995}"/>
              </a:ext>
            </a:extLst>
          </p:cNvPr>
          <p:cNvSpPr txBox="1"/>
          <p:nvPr/>
        </p:nvSpPr>
        <p:spPr>
          <a:xfrm>
            <a:off x="7538570" y="2785205"/>
            <a:ext cx="4587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m1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2573876B-96E5-473E-3270-5B7DFE4BAE4A}"/>
              </a:ext>
            </a:extLst>
          </p:cNvPr>
          <p:cNvSpPr txBox="1"/>
          <p:nvPr/>
        </p:nvSpPr>
        <p:spPr>
          <a:xfrm>
            <a:off x="7687535" y="3329974"/>
            <a:ext cx="4587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m2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C37C68-4158-0452-BF98-BE520EB1038E}"/>
              </a:ext>
            </a:extLst>
          </p:cNvPr>
          <p:cNvSpPr txBox="1"/>
          <p:nvPr/>
        </p:nvSpPr>
        <p:spPr>
          <a:xfrm>
            <a:off x="10140287" y="2600676"/>
            <a:ext cx="156908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AOD stage queue:[</a:t>
            </a:r>
          </a:p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stage 1:{</a:t>
            </a:r>
          </a:p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m1</a:t>
            </a:r>
          </a:p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}</a:t>
            </a:r>
          </a:p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stage 1:{</a:t>
            </a:r>
          </a:p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m2</a:t>
            </a:r>
          </a:p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}</a:t>
            </a:r>
          </a:p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]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F55F969A-0776-44D3-2DFB-4F297832717E}"/>
              </a:ext>
            </a:extLst>
          </p:cNvPr>
          <p:cNvCxnSpPr>
            <a:cxnSpLocks/>
            <a:stCxn id="50" idx="7"/>
            <a:endCxn id="54" idx="4"/>
          </p:cNvCxnSpPr>
          <p:nvPr/>
        </p:nvCxnSpPr>
        <p:spPr>
          <a:xfrm flipV="1">
            <a:off x="7200910" y="5270355"/>
            <a:ext cx="141213" cy="470373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48ACAB58-AD67-70C2-F665-07BC5ADC02B2}"/>
              </a:ext>
            </a:extLst>
          </p:cNvPr>
          <p:cNvSpPr txBox="1"/>
          <p:nvPr/>
        </p:nvSpPr>
        <p:spPr>
          <a:xfrm>
            <a:off x="8726071" y="5030053"/>
            <a:ext cx="10502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cz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q0, q2; </a:t>
            </a:r>
          </a:p>
          <a:p>
            <a:pPr algn="l"/>
            <a:r>
              <a:rPr lang="en-US" altLang="zh-CN" sz="14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cz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q1, q3;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FC76C861-4988-0FF6-C03A-372F83D2BF54}"/>
              </a:ext>
            </a:extLst>
          </p:cNvPr>
          <p:cNvSpPr txBox="1"/>
          <p:nvPr/>
        </p:nvSpPr>
        <p:spPr>
          <a:xfrm>
            <a:off x="10140287" y="4606970"/>
            <a:ext cx="156908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AOD stage queue:[</a:t>
            </a:r>
          </a:p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stage 1:{</a:t>
            </a:r>
          </a:p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m1</a:t>
            </a:r>
          </a:p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}</a:t>
            </a:r>
          </a:p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stage 1:{</a:t>
            </a:r>
          </a:p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m2</a:t>
            </a:r>
          </a:p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    m3</a:t>
            </a:r>
          </a:p>
          <a:p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}</a:t>
            </a:r>
          </a:p>
          <a:p>
            <a:pPr algn="l"/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]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A6C8BE13-F5D2-0006-9C7B-2658F6BA46F0}"/>
              </a:ext>
            </a:extLst>
          </p:cNvPr>
          <p:cNvSpPr txBox="1"/>
          <p:nvPr/>
        </p:nvSpPr>
        <p:spPr>
          <a:xfrm>
            <a:off x="7286822" y="5376820"/>
            <a:ext cx="4587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m3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33ADB55C-5DF7-3975-2EEC-F313474CD8AD}"/>
              </a:ext>
            </a:extLst>
          </p:cNvPr>
          <p:cNvSpPr/>
          <p:nvPr/>
        </p:nvSpPr>
        <p:spPr>
          <a:xfrm>
            <a:off x="5750258" y="890649"/>
            <a:ext cx="6156736" cy="131820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wrap="square" rtlCol="0" anchor="t" anchorCtr="0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97D450EF-04BA-2BDC-7094-0331AFCEE14F}"/>
              </a:ext>
            </a:extLst>
          </p:cNvPr>
          <p:cNvSpPr txBox="1"/>
          <p:nvPr/>
        </p:nvSpPr>
        <p:spPr>
          <a:xfrm>
            <a:off x="5820588" y="1380196"/>
            <a:ext cx="843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state 1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C2E61CF7-FEBE-8FA9-0C06-7AD2902BF8C0}"/>
              </a:ext>
            </a:extLst>
          </p:cNvPr>
          <p:cNvSpPr/>
          <p:nvPr/>
        </p:nvSpPr>
        <p:spPr>
          <a:xfrm>
            <a:off x="5750258" y="2499147"/>
            <a:ext cx="6156736" cy="172447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wrap="square" rtlCol="0" anchor="t" anchorCtr="0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9ACFE43D-1B67-CC60-943F-5742C786A2A8}"/>
              </a:ext>
            </a:extLst>
          </p:cNvPr>
          <p:cNvSpPr txBox="1"/>
          <p:nvPr/>
        </p:nvSpPr>
        <p:spPr>
          <a:xfrm>
            <a:off x="5820588" y="3047204"/>
            <a:ext cx="843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state 2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DA52BD4D-4ED6-00CF-54CF-2718592FE0A1}"/>
              </a:ext>
            </a:extLst>
          </p:cNvPr>
          <p:cNvSpPr/>
          <p:nvPr/>
        </p:nvSpPr>
        <p:spPr>
          <a:xfrm>
            <a:off x="5750257" y="4577707"/>
            <a:ext cx="6156736" cy="187768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wrap="square" rtlCol="0" anchor="t" anchorCtr="0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6BC8BFA4-11E0-9773-4DF5-9FD71FF98099}"/>
              </a:ext>
            </a:extLst>
          </p:cNvPr>
          <p:cNvSpPr txBox="1"/>
          <p:nvPr/>
        </p:nvSpPr>
        <p:spPr>
          <a:xfrm>
            <a:off x="5895125" y="5261514"/>
            <a:ext cx="843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state 3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588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B3D2055-FF0A-EFAB-A8E2-2F8B6A2A4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304F473-FD45-4990-E2E5-5E8B663F5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启发式算法</a:t>
            </a:r>
            <a:r>
              <a:rPr lang="en-US" altLang="zh-CN" dirty="0"/>
              <a:t>-</a:t>
            </a:r>
            <a:r>
              <a:rPr lang="zh-CN" altLang="en-US" dirty="0"/>
              <a:t>代价函数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713F96C-8D4C-2CC3-0CCE-30152BBF9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41" y="1354785"/>
            <a:ext cx="4005011" cy="68861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77C5AFD-6C13-6FBE-A6AA-D08BC3395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841" y="2441082"/>
            <a:ext cx="3480902" cy="43642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25DA068-324A-1F19-68C4-76E15F4A4E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489" y="3400956"/>
            <a:ext cx="1927160" cy="34191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95B934F-45D6-B972-E357-1076D290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6035" y="4266319"/>
            <a:ext cx="3135378" cy="25278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05B47650-D685-ED3C-619D-D6C3145371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6698"/>
          <a:stretch>
            <a:fillRect/>
          </a:stretch>
        </p:blipFill>
        <p:spPr>
          <a:xfrm>
            <a:off x="6229830" y="1387444"/>
            <a:ext cx="5070532" cy="26387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4EA3DC10-345E-D63D-28DB-E7F0C6EFAFAA}"/>
                  </a:ext>
                </a:extLst>
              </p:cNvPr>
              <p:cNvSpPr txBox="1"/>
              <p:nvPr/>
            </p:nvSpPr>
            <p:spPr>
              <a:xfrm>
                <a:off x="1112861" y="5253135"/>
                <a:ext cx="2826415" cy="7165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𝑑𝑒𝑛𝑠𝑖𝑡𝑦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lang="zh-CN" altLang="en-US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𝑎𝑐𝑡𝑖𝑜𝑛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𝑎𝑐𝑡𝑖𝑜𝑛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zh-CN" altLang="en-US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𝑠𝑡𝑎𝑔𝑒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𝑠𝑡𝑎𝑔𝑒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4EA3DC10-345E-D63D-28DB-E7F0C6EFA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861" y="5253135"/>
                <a:ext cx="2826415" cy="7165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>
            <a:extLst>
              <a:ext uri="{FF2B5EF4-FFF2-40B4-BE49-F238E27FC236}">
                <a16:creationId xmlns:a16="http://schemas.microsoft.com/office/drawing/2014/main" id="{DBCAE246-472B-9E5B-6A9C-1F5E9E1734C0}"/>
              </a:ext>
            </a:extLst>
          </p:cNvPr>
          <p:cNvSpPr txBox="1"/>
          <p:nvPr/>
        </p:nvSpPr>
        <p:spPr>
          <a:xfrm>
            <a:off x="6278070" y="5393094"/>
            <a:ext cx="4665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启发式策略：选择使得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density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最大的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action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11540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F93F79C-8992-4B87-893C-25359ECCB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DEB33A5-BE2A-2980-B3EA-5279A40D7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AI routing-</a:t>
            </a:r>
            <a:r>
              <a:rPr lang="zh-CN" altLang="en-US" dirty="0"/>
              <a:t>灵感来自象棋</a:t>
            </a:r>
          </a:p>
        </p:txBody>
      </p:sp>
      <p:pic>
        <p:nvPicPr>
          <p:cNvPr id="6" name="图片 5" descr="User attachment">
            <a:extLst>
              <a:ext uri="{FF2B5EF4-FFF2-40B4-BE49-F238E27FC236}">
                <a16:creationId xmlns:a16="http://schemas.microsoft.com/office/drawing/2014/main" id="{7E8437A1-6E59-245D-05AE-863963B1B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55" y="927143"/>
            <a:ext cx="3930718" cy="5240957"/>
          </a:xfrm>
          <a:prstGeom prst="rect">
            <a:avLst/>
          </a:prstGeom>
        </p:spPr>
      </p:pic>
      <p:sp>
        <p:nvSpPr>
          <p:cNvPr id="7" name="椭圆 6">
            <a:extLst>
              <a:ext uri="{FF2B5EF4-FFF2-40B4-BE49-F238E27FC236}">
                <a16:creationId xmlns:a16="http://schemas.microsoft.com/office/drawing/2014/main" id="{FCA7BEF5-0C25-AF10-1021-DB33ED292477}"/>
              </a:ext>
            </a:extLst>
          </p:cNvPr>
          <p:cNvSpPr>
            <a:spLocks noChangeAspect="1"/>
          </p:cNvSpPr>
          <p:nvPr/>
        </p:nvSpPr>
        <p:spPr>
          <a:xfrm>
            <a:off x="9164923" y="2240897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B84FEDE3-1B5B-038B-41E3-75B4FFC3834B}"/>
              </a:ext>
            </a:extLst>
          </p:cNvPr>
          <p:cNvSpPr>
            <a:spLocks noChangeAspect="1"/>
          </p:cNvSpPr>
          <p:nvPr/>
        </p:nvSpPr>
        <p:spPr>
          <a:xfrm>
            <a:off x="9308923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27CB9D2-CBA4-1D72-B6A7-76EA29165490}"/>
              </a:ext>
            </a:extLst>
          </p:cNvPr>
          <p:cNvSpPr>
            <a:spLocks noChangeAspect="1"/>
          </p:cNvSpPr>
          <p:nvPr/>
        </p:nvSpPr>
        <p:spPr>
          <a:xfrm>
            <a:off x="9607271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DF5DCA8-21AB-5100-6F5C-16E3836BC5B3}"/>
              </a:ext>
            </a:extLst>
          </p:cNvPr>
          <p:cNvSpPr>
            <a:spLocks noChangeAspect="1"/>
          </p:cNvSpPr>
          <p:nvPr/>
        </p:nvSpPr>
        <p:spPr>
          <a:xfrm>
            <a:off x="9751271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FA8EE0E3-3965-E6DF-04A0-2402DC40A37D}"/>
              </a:ext>
            </a:extLst>
          </p:cNvPr>
          <p:cNvSpPr>
            <a:spLocks noChangeAspect="1"/>
          </p:cNvSpPr>
          <p:nvPr/>
        </p:nvSpPr>
        <p:spPr>
          <a:xfrm>
            <a:off x="10049619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C455165-DEE1-60BA-5C92-F29360BA7E3D}"/>
              </a:ext>
            </a:extLst>
          </p:cNvPr>
          <p:cNvSpPr>
            <a:spLocks noChangeAspect="1"/>
          </p:cNvSpPr>
          <p:nvPr/>
        </p:nvSpPr>
        <p:spPr>
          <a:xfrm>
            <a:off x="10193619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4AE07A3E-31F7-C7A5-EA17-BDF58DD6941E}"/>
              </a:ext>
            </a:extLst>
          </p:cNvPr>
          <p:cNvSpPr>
            <a:spLocks noChangeAspect="1"/>
          </p:cNvSpPr>
          <p:nvPr/>
        </p:nvSpPr>
        <p:spPr>
          <a:xfrm>
            <a:off x="10491968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410BA73-CBB0-CA57-C5B5-4555180DD3F4}"/>
              </a:ext>
            </a:extLst>
          </p:cNvPr>
          <p:cNvSpPr>
            <a:spLocks noChangeAspect="1"/>
          </p:cNvSpPr>
          <p:nvPr/>
        </p:nvSpPr>
        <p:spPr>
          <a:xfrm>
            <a:off x="10635968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BC98FF3-9F33-0BF3-23E0-CB62EC0B51D8}"/>
              </a:ext>
            </a:extLst>
          </p:cNvPr>
          <p:cNvSpPr>
            <a:spLocks noChangeAspect="1"/>
          </p:cNvSpPr>
          <p:nvPr/>
        </p:nvSpPr>
        <p:spPr>
          <a:xfrm>
            <a:off x="9164923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B0F3BDD3-9404-D0AD-8493-5D93AE218871}"/>
              </a:ext>
            </a:extLst>
          </p:cNvPr>
          <p:cNvSpPr>
            <a:spLocks noChangeAspect="1"/>
          </p:cNvSpPr>
          <p:nvPr/>
        </p:nvSpPr>
        <p:spPr>
          <a:xfrm>
            <a:off x="9401544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2A3CA984-9B2B-683D-E760-17B713135436}"/>
              </a:ext>
            </a:extLst>
          </p:cNvPr>
          <p:cNvSpPr>
            <a:spLocks noChangeAspect="1"/>
          </p:cNvSpPr>
          <p:nvPr/>
        </p:nvSpPr>
        <p:spPr>
          <a:xfrm>
            <a:off x="9638165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EB25DF03-6B91-9014-7D38-0C53AE133EBB}"/>
              </a:ext>
            </a:extLst>
          </p:cNvPr>
          <p:cNvSpPr>
            <a:spLocks noChangeAspect="1"/>
          </p:cNvSpPr>
          <p:nvPr/>
        </p:nvSpPr>
        <p:spPr>
          <a:xfrm>
            <a:off x="9874786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D9B4945B-7C73-777E-2AA6-0DBF16F9BBBE}"/>
              </a:ext>
            </a:extLst>
          </p:cNvPr>
          <p:cNvSpPr>
            <a:spLocks noChangeAspect="1"/>
          </p:cNvSpPr>
          <p:nvPr/>
        </p:nvSpPr>
        <p:spPr>
          <a:xfrm>
            <a:off x="10111407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BC070F56-C65C-890D-5D07-593707DEF18E}"/>
              </a:ext>
            </a:extLst>
          </p:cNvPr>
          <p:cNvSpPr>
            <a:spLocks noChangeAspect="1"/>
          </p:cNvSpPr>
          <p:nvPr/>
        </p:nvSpPr>
        <p:spPr>
          <a:xfrm>
            <a:off x="10340447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D7E48CA9-49A7-8D0F-9C03-5C7C8248CC00}"/>
              </a:ext>
            </a:extLst>
          </p:cNvPr>
          <p:cNvSpPr>
            <a:spLocks noChangeAspect="1"/>
          </p:cNvSpPr>
          <p:nvPr/>
        </p:nvSpPr>
        <p:spPr>
          <a:xfrm>
            <a:off x="10577068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24293787-14A2-6C57-4460-C6670CD32A47}"/>
              </a:ext>
            </a:extLst>
          </p:cNvPr>
          <p:cNvSpPr>
            <a:spLocks noChangeAspect="1"/>
          </p:cNvSpPr>
          <p:nvPr/>
        </p:nvSpPr>
        <p:spPr>
          <a:xfrm>
            <a:off x="9164923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45CFB5DD-BA46-3759-7BA4-12CAAC00B680}"/>
              </a:ext>
            </a:extLst>
          </p:cNvPr>
          <p:cNvSpPr>
            <a:spLocks noChangeAspect="1"/>
          </p:cNvSpPr>
          <p:nvPr/>
        </p:nvSpPr>
        <p:spPr>
          <a:xfrm>
            <a:off x="9401544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B940A87-735B-493D-FF31-62D4AF4FD5A6}"/>
              </a:ext>
            </a:extLst>
          </p:cNvPr>
          <p:cNvSpPr>
            <a:spLocks noChangeAspect="1"/>
          </p:cNvSpPr>
          <p:nvPr/>
        </p:nvSpPr>
        <p:spPr>
          <a:xfrm>
            <a:off x="9638165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C7ABF9C-753B-4D0B-CE8A-3A6F5E5A5122}"/>
              </a:ext>
            </a:extLst>
          </p:cNvPr>
          <p:cNvSpPr>
            <a:spLocks noChangeAspect="1"/>
          </p:cNvSpPr>
          <p:nvPr/>
        </p:nvSpPr>
        <p:spPr>
          <a:xfrm>
            <a:off x="9874786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A738254E-04EB-9635-8ED0-AF06F04B977A}"/>
              </a:ext>
            </a:extLst>
          </p:cNvPr>
          <p:cNvSpPr>
            <a:spLocks noChangeAspect="1"/>
          </p:cNvSpPr>
          <p:nvPr/>
        </p:nvSpPr>
        <p:spPr>
          <a:xfrm>
            <a:off x="10111407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C78C5894-F1B3-CA07-1971-B4F95E2963DC}"/>
              </a:ext>
            </a:extLst>
          </p:cNvPr>
          <p:cNvSpPr>
            <a:spLocks noChangeAspect="1"/>
          </p:cNvSpPr>
          <p:nvPr/>
        </p:nvSpPr>
        <p:spPr>
          <a:xfrm>
            <a:off x="10340447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D15C664-38B8-E486-3346-5DDBFD85B4E0}"/>
              </a:ext>
            </a:extLst>
          </p:cNvPr>
          <p:cNvSpPr>
            <a:spLocks noChangeAspect="1"/>
          </p:cNvSpPr>
          <p:nvPr/>
        </p:nvSpPr>
        <p:spPr>
          <a:xfrm>
            <a:off x="10577068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210B897-7655-133F-3AD3-47C40064649F}"/>
              </a:ext>
            </a:extLst>
          </p:cNvPr>
          <p:cNvSpPr>
            <a:spLocks noChangeAspect="1"/>
          </p:cNvSpPr>
          <p:nvPr/>
        </p:nvSpPr>
        <p:spPr>
          <a:xfrm>
            <a:off x="9164923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3598388A-BAF7-DF31-360D-6B7284FBE794}"/>
              </a:ext>
            </a:extLst>
          </p:cNvPr>
          <p:cNvSpPr>
            <a:spLocks noChangeAspect="1"/>
          </p:cNvSpPr>
          <p:nvPr/>
        </p:nvSpPr>
        <p:spPr>
          <a:xfrm>
            <a:off x="9401544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2EF2ABA4-8D83-0BF5-9C49-4F3C188D2C5C}"/>
              </a:ext>
            </a:extLst>
          </p:cNvPr>
          <p:cNvSpPr>
            <a:spLocks noChangeAspect="1"/>
          </p:cNvSpPr>
          <p:nvPr/>
        </p:nvSpPr>
        <p:spPr>
          <a:xfrm>
            <a:off x="9638165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9657C333-3D7C-8F8D-6648-676E4601BE49}"/>
              </a:ext>
            </a:extLst>
          </p:cNvPr>
          <p:cNvSpPr>
            <a:spLocks noChangeAspect="1"/>
          </p:cNvSpPr>
          <p:nvPr/>
        </p:nvSpPr>
        <p:spPr>
          <a:xfrm>
            <a:off x="9874786" y="441963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65411993-AF65-5F53-F878-784E0CC99F5F}"/>
              </a:ext>
            </a:extLst>
          </p:cNvPr>
          <p:cNvSpPr>
            <a:spLocks noChangeAspect="1"/>
          </p:cNvSpPr>
          <p:nvPr/>
        </p:nvSpPr>
        <p:spPr>
          <a:xfrm>
            <a:off x="10111407" y="441963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ED146407-5163-E4DA-DE95-20DA85687636}"/>
              </a:ext>
            </a:extLst>
          </p:cNvPr>
          <p:cNvSpPr>
            <a:spLocks noChangeAspect="1"/>
          </p:cNvSpPr>
          <p:nvPr/>
        </p:nvSpPr>
        <p:spPr>
          <a:xfrm>
            <a:off x="10340447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B0F15FB0-C91D-29C3-97C7-75D44BB3D3F9}"/>
              </a:ext>
            </a:extLst>
          </p:cNvPr>
          <p:cNvSpPr>
            <a:spLocks noChangeAspect="1"/>
          </p:cNvSpPr>
          <p:nvPr/>
        </p:nvSpPr>
        <p:spPr>
          <a:xfrm>
            <a:off x="10577068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D9763A0-DC58-3B76-2363-601C5F62371D}"/>
              </a:ext>
            </a:extLst>
          </p:cNvPr>
          <p:cNvSpPr>
            <a:spLocks noChangeAspect="1"/>
          </p:cNvSpPr>
          <p:nvPr/>
        </p:nvSpPr>
        <p:spPr>
          <a:xfrm>
            <a:off x="9164923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8F68C61-C381-B89D-236B-5B07D825D9B3}"/>
              </a:ext>
            </a:extLst>
          </p:cNvPr>
          <p:cNvSpPr>
            <a:spLocks noChangeAspect="1"/>
          </p:cNvSpPr>
          <p:nvPr/>
        </p:nvSpPr>
        <p:spPr>
          <a:xfrm>
            <a:off x="9401544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A67FC84-6F79-9577-5232-84FD7BD73364}"/>
              </a:ext>
            </a:extLst>
          </p:cNvPr>
          <p:cNvSpPr>
            <a:spLocks noChangeAspect="1"/>
          </p:cNvSpPr>
          <p:nvPr/>
        </p:nvSpPr>
        <p:spPr>
          <a:xfrm>
            <a:off x="9638165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B41A981-89B6-5CE1-F66B-E858A04E51D3}"/>
              </a:ext>
            </a:extLst>
          </p:cNvPr>
          <p:cNvSpPr>
            <a:spLocks noChangeAspect="1"/>
          </p:cNvSpPr>
          <p:nvPr/>
        </p:nvSpPr>
        <p:spPr>
          <a:xfrm>
            <a:off x="9874786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C83B9130-7E5E-F11A-FA6E-4CA18BB48FD2}"/>
              </a:ext>
            </a:extLst>
          </p:cNvPr>
          <p:cNvSpPr>
            <a:spLocks noChangeAspect="1"/>
          </p:cNvSpPr>
          <p:nvPr/>
        </p:nvSpPr>
        <p:spPr>
          <a:xfrm>
            <a:off x="10111407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1EC24EE4-05F4-6E40-290C-B10F3A275F1A}"/>
              </a:ext>
            </a:extLst>
          </p:cNvPr>
          <p:cNvSpPr>
            <a:spLocks noChangeAspect="1"/>
          </p:cNvSpPr>
          <p:nvPr/>
        </p:nvSpPr>
        <p:spPr>
          <a:xfrm>
            <a:off x="10340447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E4CC574C-F97C-19C6-00B2-BDF59E40BAB5}"/>
              </a:ext>
            </a:extLst>
          </p:cNvPr>
          <p:cNvSpPr>
            <a:spLocks noChangeAspect="1"/>
          </p:cNvSpPr>
          <p:nvPr/>
        </p:nvSpPr>
        <p:spPr>
          <a:xfrm>
            <a:off x="10577068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C59EF76A-F65C-3765-F1ED-99467554BF83}"/>
              </a:ext>
            </a:extLst>
          </p:cNvPr>
          <p:cNvSpPr>
            <a:spLocks noChangeAspect="1"/>
          </p:cNvSpPr>
          <p:nvPr/>
        </p:nvSpPr>
        <p:spPr>
          <a:xfrm>
            <a:off x="9164923" y="253733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0C089E3C-A48A-A135-1F3C-4E778FE0DF0C}"/>
              </a:ext>
            </a:extLst>
          </p:cNvPr>
          <p:cNvSpPr>
            <a:spLocks noChangeAspect="1"/>
          </p:cNvSpPr>
          <p:nvPr/>
        </p:nvSpPr>
        <p:spPr>
          <a:xfrm>
            <a:off x="9308923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F673A2AB-FF8C-848D-F399-1911DCCDFB2B}"/>
              </a:ext>
            </a:extLst>
          </p:cNvPr>
          <p:cNvSpPr>
            <a:spLocks noChangeAspect="1"/>
          </p:cNvSpPr>
          <p:nvPr/>
        </p:nvSpPr>
        <p:spPr>
          <a:xfrm>
            <a:off x="9607271" y="253733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E2163F47-6105-8056-1EC5-0AC4D4EAD980}"/>
              </a:ext>
            </a:extLst>
          </p:cNvPr>
          <p:cNvSpPr>
            <a:spLocks noChangeAspect="1"/>
          </p:cNvSpPr>
          <p:nvPr/>
        </p:nvSpPr>
        <p:spPr>
          <a:xfrm>
            <a:off x="9751271" y="253135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D591E00B-A5F3-CD8C-C7E8-4A6C0D32A5E7}"/>
              </a:ext>
            </a:extLst>
          </p:cNvPr>
          <p:cNvSpPr>
            <a:spLocks noChangeAspect="1"/>
          </p:cNvSpPr>
          <p:nvPr/>
        </p:nvSpPr>
        <p:spPr>
          <a:xfrm>
            <a:off x="10049619" y="253733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5FB35AE-4EBC-D32F-4F1B-937CF4EE3BFC}"/>
              </a:ext>
            </a:extLst>
          </p:cNvPr>
          <p:cNvSpPr>
            <a:spLocks noChangeAspect="1"/>
          </p:cNvSpPr>
          <p:nvPr/>
        </p:nvSpPr>
        <p:spPr>
          <a:xfrm>
            <a:off x="10193619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C8D35BEC-3B33-DEEA-5071-42FEDD6DC340}"/>
              </a:ext>
            </a:extLst>
          </p:cNvPr>
          <p:cNvSpPr>
            <a:spLocks noChangeAspect="1"/>
          </p:cNvSpPr>
          <p:nvPr/>
        </p:nvSpPr>
        <p:spPr>
          <a:xfrm>
            <a:off x="10491968" y="253733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E4EBA6B4-EEEE-70CB-326F-70A67C58FD35}"/>
              </a:ext>
            </a:extLst>
          </p:cNvPr>
          <p:cNvSpPr>
            <a:spLocks noChangeAspect="1"/>
          </p:cNvSpPr>
          <p:nvPr/>
        </p:nvSpPr>
        <p:spPr>
          <a:xfrm>
            <a:off x="10635968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E3C8C2E-C8F9-A3E7-953A-944A93C2BE77}"/>
              </a:ext>
            </a:extLst>
          </p:cNvPr>
          <p:cNvSpPr/>
          <p:nvPr/>
        </p:nvSpPr>
        <p:spPr>
          <a:xfrm>
            <a:off x="9049418" y="2142583"/>
            <a:ext cx="1867303" cy="595423"/>
          </a:xfrm>
          <a:prstGeom prst="rect">
            <a:avLst/>
          </a:prstGeom>
          <a:ln w="15875">
            <a:solidFill>
              <a:schemeClr val="accent2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5B2A169-78DB-4340-4D93-F3F2EF93261F}"/>
              </a:ext>
            </a:extLst>
          </p:cNvPr>
          <p:cNvSpPr/>
          <p:nvPr/>
        </p:nvSpPr>
        <p:spPr>
          <a:xfrm>
            <a:off x="9049418" y="3265380"/>
            <a:ext cx="1867303" cy="639403"/>
          </a:xfrm>
          <a:prstGeom prst="rect">
            <a:avLst/>
          </a:prstGeom>
          <a:ln w="15875">
            <a:solidFill>
              <a:schemeClr val="accent5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BD093861-42BA-0207-D7EA-1F20535A9337}"/>
              </a:ext>
            </a:extLst>
          </p:cNvPr>
          <p:cNvCxnSpPr>
            <a:stCxn id="44" idx="0"/>
            <a:endCxn id="8" idx="4"/>
          </p:cNvCxnSpPr>
          <p:nvPr/>
        </p:nvCxnSpPr>
        <p:spPr>
          <a:xfrm flipV="1">
            <a:off x="9380923" y="2378910"/>
            <a:ext cx="0" cy="1524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FA6A4A3-BCD0-317F-C0E0-0E271C0834C5}"/>
              </a:ext>
            </a:extLst>
          </p:cNvPr>
          <p:cNvCxnSpPr>
            <a:cxnSpLocks/>
            <a:stCxn id="17" idx="0"/>
            <a:endCxn id="45" idx="4"/>
          </p:cNvCxnSpPr>
          <p:nvPr/>
        </p:nvCxnSpPr>
        <p:spPr>
          <a:xfrm flipH="1" flipV="1">
            <a:off x="9679271" y="2681338"/>
            <a:ext cx="30894" cy="6906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A9A293E-B459-A052-A998-1A7136CC237F}"/>
              </a:ext>
            </a:extLst>
          </p:cNvPr>
          <p:cNvCxnSpPr>
            <a:stCxn id="18" idx="0"/>
            <a:endCxn id="46" idx="4"/>
          </p:cNvCxnSpPr>
          <p:nvPr/>
        </p:nvCxnSpPr>
        <p:spPr>
          <a:xfrm flipH="1" flipV="1">
            <a:off x="9823271" y="2675351"/>
            <a:ext cx="123515" cy="696664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A5E0FF4A-6E65-086C-E94E-2E9A9A63F552}"/>
              </a:ext>
            </a:extLst>
          </p:cNvPr>
          <p:cNvSpPr/>
          <p:nvPr/>
        </p:nvSpPr>
        <p:spPr>
          <a:xfrm>
            <a:off x="9049418" y="4313256"/>
            <a:ext cx="1867303" cy="639403"/>
          </a:xfrm>
          <a:prstGeom prst="rect">
            <a:avLst/>
          </a:prstGeom>
          <a:ln w="15875">
            <a:solidFill>
              <a:srgbClr val="00B05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3A1595E8-0D2E-C494-BD6D-28B214023726}"/>
              </a:ext>
            </a:extLst>
          </p:cNvPr>
          <p:cNvCxnSpPr>
            <a:stCxn id="23" idx="4"/>
            <a:endCxn id="30" idx="0"/>
          </p:cNvCxnSpPr>
          <p:nvPr/>
        </p:nvCxnSpPr>
        <p:spPr>
          <a:xfrm>
            <a:off x="9473544" y="3818443"/>
            <a:ext cx="0" cy="6011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椭圆 57">
            <a:extLst>
              <a:ext uri="{FF2B5EF4-FFF2-40B4-BE49-F238E27FC236}">
                <a16:creationId xmlns:a16="http://schemas.microsoft.com/office/drawing/2014/main" id="{E354F5F9-D823-75A7-6744-9C0605B734C3}"/>
              </a:ext>
            </a:extLst>
          </p:cNvPr>
          <p:cNvSpPr/>
          <p:nvPr/>
        </p:nvSpPr>
        <p:spPr>
          <a:xfrm>
            <a:off x="392635" y="5309992"/>
            <a:ext cx="360000" cy="360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车</a:t>
            </a: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FDA0E71-F507-25E1-30CA-CC4484E22D36}"/>
              </a:ext>
            </a:extLst>
          </p:cNvPr>
          <p:cNvCxnSpPr>
            <a:cxnSpLocks/>
          </p:cNvCxnSpPr>
          <p:nvPr/>
        </p:nvCxnSpPr>
        <p:spPr>
          <a:xfrm flipV="1">
            <a:off x="572635" y="1626669"/>
            <a:ext cx="0" cy="368332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6C8FCA1F-1B2C-84ED-63BA-FF2C07B0788C}"/>
              </a:ext>
            </a:extLst>
          </p:cNvPr>
          <p:cNvCxnSpPr/>
          <p:nvPr/>
        </p:nvCxnSpPr>
        <p:spPr>
          <a:xfrm>
            <a:off x="752635" y="5489992"/>
            <a:ext cx="3270725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738F40F0-FDCF-FB7A-7AA4-60240E125620}"/>
              </a:ext>
            </a:extLst>
          </p:cNvPr>
          <p:cNvSpPr txBox="1"/>
          <p:nvPr/>
        </p:nvSpPr>
        <p:spPr>
          <a:xfrm>
            <a:off x="5091764" y="2531351"/>
            <a:ext cx="3479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棋盘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site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阵列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棋子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qubits</a:t>
            </a: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马走日象走田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AOD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移动限制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吃子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执行门</a:t>
            </a:r>
          </a:p>
        </p:txBody>
      </p:sp>
    </p:spTree>
    <p:extLst>
      <p:ext uri="{BB962C8B-B14F-4D97-AF65-F5344CB8AC3E}">
        <p14:creationId xmlns:p14="http://schemas.microsoft.com/office/powerpoint/2010/main" val="1133159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1C4D55C-CEDA-09D4-FFB2-FE3EA39F8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CEB2532-D2FF-E3BD-43C6-5DDBADF1F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Token</a:t>
            </a:r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CC0FEA6-4062-6582-FA0F-8C496C8742D5}"/>
              </a:ext>
            </a:extLst>
          </p:cNvPr>
          <p:cNvSpPr/>
          <p:nvPr/>
        </p:nvSpPr>
        <p:spPr>
          <a:xfrm>
            <a:off x="6365168" y="165273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 err="1">
                <a:latin typeface="微软雅黑" pitchFamily="34" charset="-122"/>
                <a:ea typeface="微软雅黑" pitchFamily="34" charset="-122"/>
              </a:rPr>
              <a:t>i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DC4BB8-3F14-9AE0-E19C-7CE7474233A5}"/>
              </a:ext>
            </a:extLst>
          </p:cNvPr>
          <p:cNvSpPr/>
          <p:nvPr/>
        </p:nvSpPr>
        <p:spPr>
          <a:xfrm>
            <a:off x="4506331" y="165273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21E1B32-FC78-CA7C-A282-F56289EBBCA1}"/>
              </a:ext>
            </a:extLst>
          </p:cNvPr>
          <p:cNvSpPr/>
          <p:nvPr/>
        </p:nvSpPr>
        <p:spPr>
          <a:xfrm>
            <a:off x="8236840" y="165273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k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9752350-5196-9DF7-6636-43CD3FAE9E35}"/>
              </a:ext>
            </a:extLst>
          </p:cNvPr>
          <p:cNvSpPr/>
          <p:nvPr/>
        </p:nvSpPr>
        <p:spPr>
          <a:xfrm>
            <a:off x="2814331" y="165273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5FB72F-EAE1-E1B9-86FA-4F9C3B3F2A03}"/>
              </a:ext>
            </a:extLst>
          </p:cNvPr>
          <p:cNvSpPr/>
          <p:nvPr/>
        </p:nvSpPr>
        <p:spPr>
          <a:xfrm>
            <a:off x="6198331" y="244312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zone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2674BAE-5584-D15E-A37F-AA1B00589744}"/>
              </a:ext>
            </a:extLst>
          </p:cNvPr>
          <p:cNvSpPr/>
          <p:nvPr/>
        </p:nvSpPr>
        <p:spPr>
          <a:xfrm>
            <a:off x="4506331" y="244312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类型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F6A1376-13A0-9561-EEBE-E73535D0F7F3}"/>
              </a:ext>
            </a:extLst>
          </p:cNvPr>
          <p:cNvSpPr/>
          <p:nvPr/>
        </p:nvSpPr>
        <p:spPr>
          <a:xfrm>
            <a:off x="7890331" y="244312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Qubit token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C7A40FD-8176-047F-449C-1C3C0D7FF182}"/>
              </a:ext>
            </a:extLst>
          </p:cNvPr>
          <p:cNvSpPr/>
          <p:nvPr/>
        </p:nvSpPr>
        <p:spPr>
          <a:xfrm>
            <a:off x="2814331" y="244312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坐标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C0FEA6-4062-6582-FA0F-8C496C8742D5}"/>
              </a:ext>
            </a:extLst>
          </p:cNvPr>
          <p:cNvSpPr/>
          <p:nvPr/>
        </p:nvSpPr>
        <p:spPr>
          <a:xfrm>
            <a:off x="6198331" y="3233507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是否被占用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FDC4BB8-3F14-9AE0-E19C-7CE7474233A5}"/>
              </a:ext>
            </a:extLst>
          </p:cNvPr>
          <p:cNvSpPr/>
          <p:nvPr/>
        </p:nvSpPr>
        <p:spPr>
          <a:xfrm>
            <a:off x="4506331" y="3233507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终止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9752350-5196-9DF7-6636-43CD3FAE9E35}"/>
              </a:ext>
            </a:extLst>
          </p:cNvPr>
          <p:cNvSpPr/>
          <p:nvPr/>
        </p:nvSpPr>
        <p:spPr>
          <a:xfrm>
            <a:off x="2814331" y="3233507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起始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A06BBC2-7B87-D920-85FE-9AD6CCB8F9C4}"/>
              </a:ext>
            </a:extLst>
          </p:cNvPr>
          <p:cNvSpPr txBox="1"/>
          <p:nvPr/>
        </p:nvSpPr>
        <p:spPr>
          <a:xfrm>
            <a:off x="6134335" y="1728790"/>
            <a:ext cx="461665" cy="27988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8996BD0-7A0A-94C0-3A74-765FD39EABEE}"/>
              </a:ext>
            </a:extLst>
          </p:cNvPr>
          <p:cNvSpPr txBox="1"/>
          <p:nvPr/>
        </p:nvSpPr>
        <p:spPr>
          <a:xfrm>
            <a:off x="7993171" y="1728790"/>
            <a:ext cx="461665" cy="27988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2897B39-F879-9714-2F14-1DEDF7552344}"/>
              </a:ext>
            </a:extLst>
          </p:cNvPr>
          <p:cNvSpPr/>
          <p:nvPr/>
        </p:nvSpPr>
        <p:spPr>
          <a:xfrm>
            <a:off x="4019816" y="4588439"/>
            <a:ext cx="2789277" cy="914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Policy/value network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D9EBFF-8D99-16BD-F602-10CF8E9BBCD9}"/>
              </a:ext>
            </a:extLst>
          </p:cNvPr>
          <p:cNvSpPr txBox="1"/>
          <p:nvPr/>
        </p:nvSpPr>
        <p:spPr>
          <a:xfrm>
            <a:off x="4913526" y="6352143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action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07ECD9-DAD3-FE1F-4C5B-431CF270CB6D}"/>
              </a:ext>
            </a:extLst>
          </p:cNvPr>
          <p:cNvSpPr txBox="1"/>
          <p:nvPr/>
        </p:nvSpPr>
        <p:spPr>
          <a:xfrm>
            <a:off x="1309239" y="1667408"/>
            <a:ext cx="1505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Qubit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FA401215-3C93-4855-55A8-300E5768A960}"/>
              </a:ext>
            </a:extLst>
          </p:cNvPr>
          <p:cNvSpPr txBox="1"/>
          <p:nvPr/>
        </p:nvSpPr>
        <p:spPr>
          <a:xfrm>
            <a:off x="1166636" y="2474454"/>
            <a:ext cx="1289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Site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A0FDBC6-A4CC-98C5-7B5E-1D97CAC76D92}"/>
              </a:ext>
            </a:extLst>
          </p:cNvPr>
          <p:cNvSpPr txBox="1"/>
          <p:nvPr/>
        </p:nvSpPr>
        <p:spPr>
          <a:xfrm>
            <a:off x="962990" y="3233507"/>
            <a:ext cx="1851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Channel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箭头: 下 47">
            <a:extLst>
              <a:ext uri="{FF2B5EF4-FFF2-40B4-BE49-F238E27FC236}">
                <a16:creationId xmlns:a16="http://schemas.microsoft.com/office/drawing/2014/main" id="{0878B4DB-D4DF-058F-9805-F1139FC5384E}"/>
              </a:ext>
            </a:extLst>
          </p:cNvPr>
          <p:cNvSpPr/>
          <p:nvPr/>
        </p:nvSpPr>
        <p:spPr>
          <a:xfrm>
            <a:off x="5187681" y="3874400"/>
            <a:ext cx="317634" cy="64641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箭头: 下 49">
            <a:extLst>
              <a:ext uri="{FF2B5EF4-FFF2-40B4-BE49-F238E27FC236}">
                <a16:creationId xmlns:a16="http://schemas.microsoft.com/office/drawing/2014/main" id="{0488F86C-FA5E-EC6C-66E6-07C94DAC6E3F}"/>
              </a:ext>
            </a:extLst>
          </p:cNvPr>
          <p:cNvSpPr/>
          <p:nvPr/>
        </p:nvSpPr>
        <p:spPr>
          <a:xfrm>
            <a:off x="5190678" y="5548572"/>
            <a:ext cx="317634" cy="64641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6F4A5A9-156F-3012-F0BA-8A7A67A2568E}"/>
              </a:ext>
            </a:extLst>
          </p:cNvPr>
          <p:cNvSpPr/>
          <p:nvPr/>
        </p:nvSpPr>
        <p:spPr>
          <a:xfrm>
            <a:off x="7890331" y="3233507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X or Y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E375DDD-0822-471B-059B-84DAAE02F0A3}"/>
              </a:ext>
            </a:extLst>
          </p:cNvPr>
          <p:cNvSpPr/>
          <p:nvPr/>
        </p:nvSpPr>
        <p:spPr>
          <a:xfrm>
            <a:off x="962990" y="994290"/>
            <a:ext cx="9286478" cy="274484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Routing state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40C5E23D-3462-CDA9-C408-A94AD53D1F9C}"/>
              </a:ext>
            </a:extLst>
          </p:cNvPr>
          <p:cNvCxnSpPr>
            <a:stCxn id="27" idx="3"/>
            <a:endCxn id="5" idx="3"/>
          </p:cNvCxnSpPr>
          <p:nvPr/>
        </p:nvCxnSpPr>
        <p:spPr>
          <a:xfrm flipV="1">
            <a:off x="5779469" y="2366713"/>
            <a:ext cx="4469999" cy="4170096"/>
          </a:xfrm>
          <a:prstGeom prst="bentConnector3">
            <a:avLst>
              <a:gd name="adj1" fmla="val 11315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2BD1E1F8-774D-2CD6-5391-5272F7E92789}"/>
              </a:ext>
            </a:extLst>
          </p:cNvPr>
          <p:cNvSpPr txBox="1"/>
          <p:nvPr/>
        </p:nvSpPr>
        <p:spPr>
          <a:xfrm>
            <a:off x="8175009" y="615059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更新</a:t>
            </a:r>
          </a:p>
        </p:txBody>
      </p:sp>
    </p:spTree>
    <p:extLst>
      <p:ext uri="{BB962C8B-B14F-4D97-AF65-F5344CB8AC3E}">
        <p14:creationId xmlns:p14="http://schemas.microsoft.com/office/powerpoint/2010/main" val="1645280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0B4B116-EB3B-299C-E1CF-88867FF30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9A30188-FEBE-2BCA-C5A0-08D3915D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基于交叉注意力机制的</a:t>
            </a:r>
            <a:r>
              <a:rPr lang="en-US" altLang="zh-CN" dirty="0"/>
              <a:t>routing model</a:t>
            </a:r>
            <a:endParaRPr lang="zh-CN" alt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5B26F8C-4DCC-72B9-BAA4-CE2F172A47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67"/>
          <a:stretch>
            <a:fillRect/>
          </a:stretch>
        </p:blipFill>
        <p:spPr>
          <a:xfrm>
            <a:off x="0" y="990600"/>
            <a:ext cx="12192000" cy="3590925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C934C27-3B18-B58E-8FE7-5EBAB497A6E8}"/>
              </a:ext>
            </a:extLst>
          </p:cNvPr>
          <p:cNvSpPr txBox="1"/>
          <p:nvPr/>
        </p:nvSpPr>
        <p:spPr>
          <a:xfrm>
            <a:off x="600075" y="4833232"/>
            <a:ext cx="112318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Q </a:t>
            </a:r>
            <a:r>
              <a:rPr lang="en-US" altLang="zh-CN" dirty="0"/>
              <a:t>&lt;</a:t>
            </a:r>
            <a:r>
              <a:rPr lang="zh-CN" altLang="zh-CN" dirty="0"/>
              <a:t>-&gt; S attention</a:t>
            </a:r>
            <a:r>
              <a:rPr lang="en-US" altLang="zh-CN" dirty="0"/>
              <a:t>: </a:t>
            </a:r>
            <a:r>
              <a:rPr lang="zh-CN" altLang="zh-CN" dirty="0"/>
              <a:t>对 qubit q 来说，哪些 </a:t>
            </a:r>
            <a:r>
              <a:rPr lang="en-US" altLang="zh-CN" dirty="0"/>
              <a:t>site</a:t>
            </a:r>
            <a:r>
              <a:rPr lang="zh-CN" altLang="zh-CN" dirty="0"/>
              <a:t> 是重要目标？</a:t>
            </a:r>
            <a:r>
              <a:rPr lang="en-US" altLang="zh-CN" dirty="0"/>
              <a:t>site</a:t>
            </a:r>
            <a:r>
              <a:rPr lang="zh-CN" altLang="zh-CN" dirty="0"/>
              <a:t> 应该知道哪个 qubit 在这里，以及附近/未来哪些 qubit 会争用它。</a:t>
            </a:r>
            <a:endParaRPr lang="en-US" altLang="zh-CN" dirty="0"/>
          </a:p>
          <a:p>
            <a:r>
              <a:rPr lang="en-US" altLang="zh-CN" dirty="0"/>
              <a:t>Q &lt;</a:t>
            </a:r>
            <a:r>
              <a:rPr lang="zh-CN" altLang="zh-CN" dirty="0"/>
              <a:t>-&gt;</a:t>
            </a:r>
            <a:r>
              <a:rPr lang="en-US" altLang="zh-CN" dirty="0"/>
              <a:t> C</a:t>
            </a:r>
            <a:r>
              <a:rPr lang="zh-CN" altLang="zh-CN" dirty="0"/>
              <a:t> attention</a:t>
            </a:r>
            <a:r>
              <a:rPr lang="en-US" altLang="zh-CN" dirty="0"/>
              <a:t>: </a:t>
            </a:r>
            <a:r>
              <a:rPr lang="zh-CN" altLang="zh-CN" dirty="0"/>
              <a:t>qubit q 如果移动，会用哪些 AOD channel？哪些 channel 当前可用/冲突？</a:t>
            </a:r>
          </a:p>
          <a:p>
            <a:r>
              <a:rPr lang="en-US" altLang="zh-CN" dirty="0"/>
              <a:t>S  &lt;</a:t>
            </a:r>
            <a:r>
              <a:rPr lang="zh-CN" altLang="zh-CN" dirty="0"/>
              <a:t>-&gt;</a:t>
            </a:r>
            <a:r>
              <a:rPr lang="en-US" altLang="zh-CN" dirty="0"/>
              <a:t> C</a:t>
            </a:r>
            <a:r>
              <a:rPr lang="zh-CN" altLang="zh-CN" dirty="0"/>
              <a:t> attention</a:t>
            </a:r>
            <a:r>
              <a:rPr lang="en-US" altLang="zh-CN" dirty="0"/>
              <a:t>: </a:t>
            </a:r>
            <a:r>
              <a:rPr lang="zh-CN" altLang="zh-CN" dirty="0"/>
              <a:t>某个 </a:t>
            </a:r>
            <a:r>
              <a:rPr lang="en-US" altLang="zh-CN" dirty="0"/>
              <a:t>site</a:t>
            </a:r>
            <a:r>
              <a:rPr lang="zh-CN" altLang="zh-CN" dirty="0"/>
              <a:t> 是否是 channel 的 source 或 target？某个 channel 会把 atom 带到哪些 site？</a:t>
            </a:r>
          </a:p>
        </p:txBody>
      </p:sp>
    </p:spTree>
    <p:extLst>
      <p:ext uri="{BB962C8B-B14F-4D97-AF65-F5344CB8AC3E}">
        <p14:creationId xmlns:p14="http://schemas.microsoft.com/office/powerpoint/2010/main" val="2732195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86CA193-820E-6D8C-9D73-4A2B3A53E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10</a:t>
            </a:fld>
            <a:endParaRPr lang="zh-CN" altLang="en-US"/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8AE2D4A3-35C0-210A-5D8E-9BD4D39E9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模拟训练</a:t>
            </a:r>
          </a:p>
        </p:txBody>
      </p:sp>
      <p:sp>
        <p:nvSpPr>
          <p:cNvPr id="5" name="矩形: 折角 4">
            <a:extLst>
              <a:ext uri="{FF2B5EF4-FFF2-40B4-BE49-F238E27FC236}">
                <a16:creationId xmlns:a16="http://schemas.microsoft.com/office/drawing/2014/main" id="{B381F2E6-3E34-D8C5-7A7D-F4F2A757E109}"/>
              </a:ext>
            </a:extLst>
          </p:cNvPr>
          <p:cNvSpPr/>
          <p:nvPr/>
        </p:nvSpPr>
        <p:spPr>
          <a:xfrm>
            <a:off x="1322350" y="1328290"/>
            <a:ext cx="1299412" cy="1769518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OPENQASM 2.0;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include "qelib1.inc";</a:t>
            </a:r>
          </a:p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qreg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q[4];</a:t>
            </a:r>
          </a:p>
          <a:p>
            <a:pPr algn="ctr"/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creg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 c[4];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x q[2];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cx q[0],q[2];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cx q[0],q[1];</a:t>
            </a:r>
          </a:p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cx q[3],q[2];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16AAE3DF-EAC0-1A81-EDF6-486DD391161C}"/>
              </a:ext>
            </a:extLst>
          </p:cNvPr>
          <p:cNvGrpSpPr/>
          <p:nvPr/>
        </p:nvGrpSpPr>
        <p:grpSpPr>
          <a:xfrm>
            <a:off x="3283705" y="1447075"/>
            <a:ext cx="1424539" cy="1401242"/>
            <a:chOff x="3112167" y="1445758"/>
            <a:chExt cx="1424539" cy="1401242"/>
          </a:xfrm>
        </p:grpSpPr>
        <p:sp>
          <p:nvSpPr>
            <p:cNvPr id="25" name="矩形: 折角 24">
              <a:extLst>
                <a:ext uri="{FF2B5EF4-FFF2-40B4-BE49-F238E27FC236}">
                  <a16:creationId xmlns:a16="http://schemas.microsoft.com/office/drawing/2014/main" id="{37659481-D793-FFB7-AF93-A8DB5E70EC21}"/>
                </a:ext>
              </a:extLst>
            </p:cNvPr>
            <p:cNvSpPr/>
            <p:nvPr/>
          </p:nvSpPr>
          <p:spPr>
            <a:xfrm>
              <a:off x="3112167" y="1445758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7" name="矩形: 折角 26">
              <a:extLst>
                <a:ext uri="{FF2B5EF4-FFF2-40B4-BE49-F238E27FC236}">
                  <a16:creationId xmlns:a16="http://schemas.microsoft.com/office/drawing/2014/main" id="{75282B69-6E25-376A-E179-5FD58D1C997C}"/>
                </a:ext>
              </a:extLst>
            </p:cNvPr>
            <p:cNvSpPr/>
            <p:nvPr/>
          </p:nvSpPr>
          <p:spPr>
            <a:xfrm>
              <a:off x="3171523" y="1501067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21" name="矩形: 折角 20">
              <a:extLst>
                <a:ext uri="{FF2B5EF4-FFF2-40B4-BE49-F238E27FC236}">
                  <a16:creationId xmlns:a16="http://schemas.microsoft.com/office/drawing/2014/main" id="{3E31ED86-7DEB-B88E-7460-2A692B8B2133}"/>
                </a:ext>
              </a:extLst>
            </p:cNvPr>
            <p:cNvSpPr/>
            <p:nvPr/>
          </p:nvSpPr>
          <p:spPr>
            <a:xfrm>
              <a:off x="3237294" y="1576465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block:</a:t>
              </a:r>
            </a:p>
            <a:p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   {</a:t>
              </a:r>
            </a:p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q[0],q[2];</a:t>
              </a:r>
            </a:p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q[0],q[1];</a:t>
              </a:r>
            </a:p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q[3],q[2];</a:t>
              </a:r>
            </a:p>
            <a:p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    }</a:t>
              </a:r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00FCD270-2CC7-7B98-879F-51E56921BC99}"/>
              </a:ext>
            </a:extLst>
          </p:cNvPr>
          <p:cNvGrpSpPr/>
          <p:nvPr/>
        </p:nvGrpSpPr>
        <p:grpSpPr>
          <a:xfrm>
            <a:off x="5272022" y="228633"/>
            <a:ext cx="1424539" cy="1401242"/>
            <a:chOff x="5521688" y="1445758"/>
            <a:chExt cx="1424539" cy="1401242"/>
          </a:xfrm>
        </p:grpSpPr>
        <p:sp>
          <p:nvSpPr>
            <p:cNvPr id="29" name="矩形: 折角 28">
              <a:extLst>
                <a:ext uri="{FF2B5EF4-FFF2-40B4-BE49-F238E27FC236}">
                  <a16:creationId xmlns:a16="http://schemas.microsoft.com/office/drawing/2014/main" id="{CCE8D1D3-B4F7-EF5F-E14A-0D38B77EC36B}"/>
                </a:ext>
              </a:extLst>
            </p:cNvPr>
            <p:cNvSpPr/>
            <p:nvPr/>
          </p:nvSpPr>
          <p:spPr>
            <a:xfrm>
              <a:off x="5521688" y="1445758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1" name="矩形: 折角 30">
              <a:extLst>
                <a:ext uri="{FF2B5EF4-FFF2-40B4-BE49-F238E27FC236}">
                  <a16:creationId xmlns:a16="http://schemas.microsoft.com/office/drawing/2014/main" id="{E95D11C2-4887-52AD-7B0F-3D3808ADD61D}"/>
                </a:ext>
              </a:extLst>
            </p:cNvPr>
            <p:cNvSpPr/>
            <p:nvPr/>
          </p:nvSpPr>
          <p:spPr>
            <a:xfrm>
              <a:off x="5581044" y="1501067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33" name="矩形: 折角 32">
              <a:extLst>
                <a:ext uri="{FF2B5EF4-FFF2-40B4-BE49-F238E27FC236}">
                  <a16:creationId xmlns:a16="http://schemas.microsoft.com/office/drawing/2014/main" id="{98682664-26AE-E40B-EFB5-ED8FFEB3CAB8}"/>
                </a:ext>
              </a:extLst>
            </p:cNvPr>
            <p:cNvSpPr/>
            <p:nvPr/>
          </p:nvSpPr>
          <p:spPr>
            <a:xfrm>
              <a:off x="5646815" y="1576465"/>
              <a:ext cx="1299412" cy="1270535"/>
            </a:xfrm>
            <a:prstGeom prst="foldedCorne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noAutofit/>
            </a:bodyPr>
            <a:lstStyle/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layer:</a:t>
              </a:r>
            </a:p>
            <a:p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   {</a:t>
              </a:r>
            </a:p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q[0],q[1];</a:t>
              </a:r>
            </a:p>
            <a:p>
              <a:pPr algn="ctr"/>
              <a:r>
                <a:rPr lang="en-US" altLang="zh-CN" sz="1050" dirty="0" err="1">
                  <a:latin typeface="微软雅黑" pitchFamily="34" charset="-122"/>
                  <a:ea typeface="微软雅黑" pitchFamily="34" charset="-122"/>
                </a:rPr>
                <a:t>cz</a:t>
              </a:r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q[3],q[2];</a:t>
              </a:r>
            </a:p>
            <a:p>
              <a:r>
                <a:rPr lang="en-US" altLang="zh-CN" sz="1050" dirty="0">
                  <a:latin typeface="微软雅黑" pitchFamily="34" charset="-122"/>
                  <a:ea typeface="微软雅黑" pitchFamily="34" charset="-122"/>
                </a:rPr>
                <a:t>     }</a:t>
              </a:r>
              <a:endParaRPr lang="zh-CN" altLang="en-US" sz="1050" dirty="0"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35" name="矩形: 折角 34">
            <a:extLst>
              <a:ext uri="{FF2B5EF4-FFF2-40B4-BE49-F238E27FC236}">
                <a16:creationId xmlns:a16="http://schemas.microsoft.com/office/drawing/2014/main" id="{A2758A46-CB9E-F0FB-20F0-6D9BC8FF5641}"/>
              </a:ext>
            </a:extLst>
          </p:cNvPr>
          <p:cNvSpPr/>
          <p:nvPr/>
        </p:nvSpPr>
        <p:spPr>
          <a:xfrm>
            <a:off x="5266510" y="1881779"/>
            <a:ext cx="1299412" cy="1426143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RoutingConfig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(</a:t>
            </a:r>
          </a:p>
          <a:p>
            <a:r>
              <a:rPr lang="en-US" altLang="zh-CN" sz="105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width=6,</a:t>
            </a:r>
          </a:p>
          <a:p>
            <a:r>
              <a:rPr lang="en-US" altLang="zh-CN" sz="105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height=6,  </a:t>
            </a:r>
            <a:r>
              <a:rPr lang="en-US" altLang="zh-CN" sz="1050" dirty="0" err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memory_rows</a:t>
            </a:r>
            <a:r>
              <a:rPr lang="en-US" altLang="zh-CN" sz="105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=3,  </a:t>
            </a:r>
            <a:r>
              <a:rPr lang="en-US" altLang="zh-CN" sz="1050" dirty="0" err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num_qubits</a:t>
            </a:r>
            <a:r>
              <a:rPr lang="en-US" altLang="zh-CN" sz="1050" dirty="0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rPr>
              <a:t>=16,</a:t>
            </a:r>
          </a:p>
          <a:p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queue_len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=4,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7E5DB7E-4A29-5CC0-6289-40FD7C48C52A}"/>
              </a:ext>
            </a:extLst>
          </p:cNvPr>
          <p:cNvSpPr/>
          <p:nvPr/>
        </p:nvSpPr>
        <p:spPr>
          <a:xfrm>
            <a:off x="7182604" y="1629875"/>
            <a:ext cx="1256262" cy="914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Heuristic algorithm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EA2B9E9-0E17-F223-D533-7EA8E172F29D}"/>
              </a:ext>
            </a:extLst>
          </p:cNvPr>
          <p:cNvSpPr/>
          <p:nvPr/>
        </p:nvSpPr>
        <p:spPr>
          <a:xfrm>
            <a:off x="10867932" y="4536394"/>
            <a:ext cx="914400" cy="914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AI model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矩形: 折角 39">
            <a:extLst>
              <a:ext uri="{FF2B5EF4-FFF2-40B4-BE49-F238E27FC236}">
                <a16:creationId xmlns:a16="http://schemas.microsoft.com/office/drawing/2014/main" id="{F0AA9F63-1D02-94C9-64F0-61ED278E9BFB}"/>
              </a:ext>
            </a:extLst>
          </p:cNvPr>
          <p:cNvSpPr/>
          <p:nvPr/>
        </p:nvSpPr>
        <p:spPr>
          <a:xfrm>
            <a:off x="4819448" y="3689216"/>
            <a:ext cx="1110109" cy="1053771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Initial mapping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矩形: 折角 41">
            <a:extLst>
              <a:ext uri="{FF2B5EF4-FFF2-40B4-BE49-F238E27FC236}">
                <a16:creationId xmlns:a16="http://schemas.microsoft.com/office/drawing/2014/main" id="{E7DF08BA-EA78-6DDD-D3D4-AC85F4698BBA}"/>
              </a:ext>
            </a:extLst>
          </p:cNvPr>
          <p:cNvSpPr/>
          <p:nvPr/>
        </p:nvSpPr>
        <p:spPr>
          <a:xfrm>
            <a:off x="9011661" y="5132394"/>
            <a:ext cx="1110109" cy="1270535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RoutingState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mapping,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blocks,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queue,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… 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s2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矩形: 折角 43">
            <a:extLst>
              <a:ext uri="{FF2B5EF4-FFF2-40B4-BE49-F238E27FC236}">
                <a16:creationId xmlns:a16="http://schemas.microsoft.com/office/drawing/2014/main" id="{FA3F4D50-171C-E9E4-C635-A9290AE37B89}"/>
              </a:ext>
            </a:extLst>
          </p:cNvPr>
          <p:cNvSpPr/>
          <p:nvPr/>
        </p:nvSpPr>
        <p:spPr>
          <a:xfrm>
            <a:off x="9011661" y="3692640"/>
            <a:ext cx="1110109" cy="1053771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action(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move/exe/ne,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qubit,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site,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a2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矩形: 折角 45">
            <a:extLst>
              <a:ext uri="{FF2B5EF4-FFF2-40B4-BE49-F238E27FC236}">
                <a16:creationId xmlns:a16="http://schemas.microsoft.com/office/drawing/2014/main" id="{B13939BD-66A1-A096-305E-DCCB0FA42E2D}"/>
              </a:ext>
            </a:extLst>
          </p:cNvPr>
          <p:cNvSpPr/>
          <p:nvPr/>
        </p:nvSpPr>
        <p:spPr>
          <a:xfrm>
            <a:off x="7553039" y="5132394"/>
            <a:ext cx="1110109" cy="1270535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RoutingState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mapping,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blocks,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queue,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… 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s1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矩形: 折角 47">
            <a:extLst>
              <a:ext uri="{FF2B5EF4-FFF2-40B4-BE49-F238E27FC236}">
                <a16:creationId xmlns:a16="http://schemas.microsoft.com/office/drawing/2014/main" id="{9F6C9484-4926-A70B-4350-96EFD5A30123}"/>
              </a:ext>
            </a:extLst>
          </p:cNvPr>
          <p:cNvSpPr/>
          <p:nvPr/>
        </p:nvSpPr>
        <p:spPr>
          <a:xfrm>
            <a:off x="7553039" y="3692640"/>
            <a:ext cx="1110109" cy="1053771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action(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move/exe/ne,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qubit,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site,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a1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矩形: 折角 49">
            <a:extLst>
              <a:ext uri="{FF2B5EF4-FFF2-40B4-BE49-F238E27FC236}">
                <a16:creationId xmlns:a16="http://schemas.microsoft.com/office/drawing/2014/main" id="{6F44CFDD-238C-753E-3ADF-7AF73A190B91}"/>
              </a:ext>
            </a:extLst>
          </p:cNvPr>
          <p:cNvSpPr/>
          <p:nvPr/>
        </p:nvSpPr>
        <p:spPr>
          <a:xfrm>
            <a:off x="4819448" y="5132394"/>
            <a:ext cx="1110109" cy="1270535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 err="1">
                <a:latin typeface="微软雅黑" pitchFamily="34" charset="-122"/>
                <a:ea typeface="微软雅黑" pitchFamily="34" charset="-122"/>
              </a:rPr>
              <a:t>RoutingState</a:t>
            </a:r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mapping,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blocks,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queue,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… 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s0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: 折角 51">
            <a:extLst>
              <a:ext uri="{FF2B5EF4-FFF2-40B4-BE49-F238E27FC236}">
                <a16:creationId xmlns:a16="http://schemas.microsoft.com/office/drawing/2014/main" id="{F5E184D3-82D4-F031-BBC9-5EC7920CD7B3}"/>
              </a:ext>
            </a:extLst>
          </p:cNvPr>
          <p:cNvSpPr/>
          <p:nvPr/>
        </p:nvSpPr>
        <p:spPr>
          <a:xfrm>
            <a:off x="6138109" y="3692640"/>
            <a:ext cx="1110109" cy="1053771"/>
          </a:xfrm>
          <a:prstGeom prst="foldedCorne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action(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move/exe/ne,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qubit,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site,</a:t>
            </a:r>
          </a:p>
          <a:p>
            <a:r>
              <a:rPr lang="en-US" altLang="zh-CN" sz="1050" dirty="0">
                <a:latin typeface="微软雅黑" pitchFamily="34" charset="-122"/>
                <a:ea typeface="微软雅黑" pitchFamily="34" charset="-122"/>
              </a:rPr>
              <a:t>) a0</a:t>
            </a:r>
            <a:endParaRPr lang="zh-CN" altLang="en-US" sz="105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9A42439-CB2E-B3E1-7CD5-C5224D5BCFE0}"/>
              </a:ext>
            </a:extLst>
          </p:cNvPr>
          <p:cNvSpPr/>
          <p:nvPr/>
        </p:nvSpPr>
        <p:spPr>
          <a:xfrm>
            <a:off x="4756276" y="3603464"/>
            <a:ext cx="5485004" cy="121038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77" name="连接符: 曲线 76">
            <a:extLst>
              <a:ext uri="{FF2B5EF4-FFF2-40B4-BE49-F238E27FC236}">
                <a16:creationId xmlns:a16="http://schemas.microsoft.com/office/drawing/2014/main" id="{AC3DB064-EA40-E234-B80E-44C7EDDDF63A}"/>
              </a:ext>
            </a:extLst>
          </p:cNvPr>
          <p:cNvCxnSpPr>
            <a:stCxn id="21" idx="2"/>
            <a:endCxn id="50" idx="1"/>
          </p:cNvCxnSpPr>
          <p:nvPr/>
        </p:nvCxnSpPr>
        <p:spPr>
          <a:xfrm rot="16200000" flipH="1">
            <a:off x="2979321" y="3927534"/>
            <a:ext cx="2919345" cy="760910"/>
          </a:xfrm>
          <a:prstGeom prst="curved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EB8373B3-FCED-E08D-97BB-3C11691E53C2}"/>
              </a:ext>
            </a:extLst>
          </p:cNvPr>
          <p:cNvCxnSpPr>
            <a:stCxn id="35" idx="1"/>
            <a:endCxn id="50" idx="1"/>
          </p:cNvCxnSpPr>
          <p:nvPr/>
        </p:nvCxnSpPr>
        <p:spPr>
          <a:xfrm rot="10800000" flipV="1">
            <a:off x="4819448" y="2594850"/>
            <a:ext cx="447062" cy="3172811"/>
          </a:xfrm>
          <a:prstGeom prst="curvedConnector3">
            <a:avLst>
              <a:gd name="adj1" fmla="val 15113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386C9654-CA3A-AD09-0592-7F0A92E95952}"/>
              </a:ext>
            </a:extLst>
          </p:cNvPr>
          <p:cNvCxnSpPr>
            <a:stCxn id="40" idx="2"/>
            <a:endCxn id="50" idx="0"/>
          </p:cNvCxnSpPr>
          <p:nvPr/>
        </p:nvCxnSpPr>
        <p:spPr>
          <a:xfrm>
            <a:off x="5374503" y="4742987"/>
            <a:ext cx="0" cy="38940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8F7D9257-2334-C2F3-7CF1-BABD0824CA4D}"/>
              </a:ext>
            </a:extLst>
          </p:cNvPr>
          <p:cNvCxnSpPr>
            <a:cxnSpLocks/>
            <a:stCxn id="36" idx="2"/>
            <a:endCxn id="73" idx="0"/>
          </p:cNvCxnSpPr>
          <p:nvPr/>
        </p:nvCxnSpPr>
        <p:spPr>
          <a:xfrm flipH="1">
            <a:off x="7498778" y="2544275"/>
            <a:ext cx="311957" cy="10591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ACD9DE8C-A4F2-4A6C-31C6-3ACDDAFF76A9}"/>
              </a:ext>
            </a:extLst>
          </p:cNvPr>
          <p:cNvCxnSpPr>
            <a:cxnSpLocks/>
            <a:stCxn id="5" idx="3"/>
            <a:endCxn id="21" idx="1"/>
          </p:cNvCxnSpPr>
          <p:nvPr/>
        </p:nvCxnSpPr>
        <p:spPr>
          <a:xfrm>
            <a:off x="2621762" y="2213049"/>
            <a:ext cx="787070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E607CC46-1A1D-4B92-CF14-CDFC0F8A1F46}"/>
              </a:ext>
            </a:extLst>
          </p:cNvPr>
          <p:cNvCxnSpPr>
            <a:stCxn id="21" idx="3"/>
            <a:endCxn id="33" idx="1"/>
          </p:cNvCxnSpPr>
          <p:nvPr/>
        </p:nvCxnSpPr>
        <p:spPr>
          <a:xfrm flipV="1">
            <a:off x="4708244" y="994608"/>
            <a:ext cx="688905" cy="121844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D0FC1F24-1984-BC27-68BA-F28C6EA38191}"/>
              </a:ext>
            </a:extLst>
          </p:cNvPr>
          <p:cNvCxnSpPr>
            <a:cxnSpLocks/>
            <a:stCxn id="33" idx="3"/>
            <a:endCxn id="36" idx="1"/>
          </p:cNvCxnSpPr>
          <p:nvPr/>
        </p:nvCxnSpPr>
        <p:spPr>
          <a:xfrm>
            <a:off x="6696561" y="994608"/>
            <a:ext cx="486043" cy="10924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99E2E750-4C2E-DBC3-C591-3E3470896C4E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 flipV="1">
            <a:off x="6565922" y="2087075"/>
            <a:ext cx="616682" cy="5077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1BCCDDBD-A2B5-2717-A33F-B8AC404F73D9}"/>
              </a:ext>
            </a:extLst>
          </p:cNvPr>
          <p:cNvCxnSpPr>
            <a:endCxn id="46" idx="1"/>
          </p:cNvCxnSpPr>
          <p:nvPr/>
        </p:nvCxnSpPr>
        <p:spPr>
          <a:xfrm>
            <a:off x="5929557" y="5767662"/>
            <a:ext cx="162348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0C72CB70-E909-B2D0-79BD-B0E30E3E2A4A}"/>
              </a:ext>
            </a:extLst>
          </p:cNvPr>
          <p:cNvCxnSpPr>
            <a:stCxn id="52" idx="3"/>
            <a:endCxn id="46" idx="1"/>
          </p:cNvCxnSpPr>
          <p:nvPr/>
        </p:nvCxnSpPr>
        <p:spPr>
          <a:xfrm>
            <a:off x="7248218" y="4219526"/>
            <a:ext cx="304821" cy="15481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2DE199E6-AADE-C446-2238-71CD1DC83776}"/>
              </a:ext>
            </a:extLst>
          </p:cNvPr>
          <p:cNvCxnSpPr>
            <a:stCxn id="46" idx="3"/>
            <a:endCxn id="42" idx="1"/>
          </p:cNvCxnSpPr>
          <p:nvPr/>
        </p:nvCxnSpPr>
        <p:spPr>
          <a:xfrm>
            <a:off x="8663148" y="5767662"/>
            <a:ext cx="34851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02E882F4-BA26-EC7C-27FC-13C0CF0A3CAE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>
            <a:off x="8663148" y="4219526"/>
            <a:ext cx="348513" cy="15481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矩形 110">
            <a:extLst>
              <a:ext uri="{FF2B5EF4-FFF2-40B4-BE49-F238E27FC236}">
                <a16:creationId xmlns:a16="http://schemas.microsoft.com/office/drawing/2014/main" id="{F8B8C950-7BC7-4F6C-1BF6-E07377AB230E}"/>
              </a:ext>
            </a:extLst>
          </p:cNvPr>
          <p:cNvSpPr/>
          <p:nvPr/>
        </p:nvSpPr>
        <p:spPr>
          <a:xfrm>
            <a:off x="4756276" y="5061533"/>
            <a:ext cx="5485004" cy="143712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790FCD3E-12BB-C490-0693-4DF226F0FF4C}"/>
              </a:ext>
            </a:extLst>
          </p:cNvPr>
          <p:cNvCxnSpPr>
            <a:stCxn id="73" idx="3"/>
            <a:endCxn id="38" idx="1"/>
          </p:cNvCxnSpPr>
          <p:nvPr/>
        </p:nvCxnSpPr>
        <p:spPr>
          <a:xfrm>
            <a:off x="10241280" y="4208656"/>
            <a:ext cx="626652" cy="78493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08668651-E6F2-145D-F646-46779EF54088}"/>
              </a:ext>
            </a:extLst>
          </p:cNvPr>
          <p:cNvCxnSpPr>
            <a:stCxn id="111" idx="3"/>
            <a:endCxn id="38" idx="1"/>
          </p:cNvCxnSpPr>
          <p:nvPr/>
        </p:nvCxnSpPr>
        <p:spPr>
          <a:xfrm flipV="1">
            <a:off x="10241280" y="4993594"/>
            <a:ext cx="626652" cy="78650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5393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79082B3-A657-85AE-522A-EF4835C90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11</a:t>
            </a:fld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56D48E0-B856-DD2C-93D5-57F032493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/>
              <a:t>基于蒙特卡洛树搜索的自博弈强化学习</a:t>
            </a:r>
            <a:r>
              <a:rPr lang="en-US" altLang="zh-CN" dirty="0"/>
              <a:t>(</a:t>
            </a:r>
            <a:r>
              <a:rPr lang="zh-CN" altLang="en-US" dirty="0"/>
              <a:t>未开始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090AE809-ADC8-99D8-7737-06557AA8AB47}"/>
              </a:ext>
            </a:extLst>
          </p:cNvPr>
          <p:cNvSpPr>
            <a:spLocks noChangeAspect="1"/>
          </p:cNvSpPr>
          <p:nvPr/>
        </p:nvSpPr>
        <p:spPr>
          <a:xfrm>
            <a:off x="4055700" y="246110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89FEAE0D-5F90-6EAF-B8C3-0CAF3304DD3F}"/>
              </a:ext>
            </a:extLst>
          </p:cNvPr>
          <p:cNvSpPr>
            <a:spLocks noChangeAspect="1"/>
          </p:cNvSpPr>
          <p:nvPr/>
        </p:nvSpPr>
        <p:spPr>
          <a:xfrm>
            <a:off x="3519739" y="287364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FC5E5A2-DE1A-2F02-4076-19BE45702626}"/>
              </a:ext>
            </a:extLst>
          </p:cNvPr>
          <p:cNvSpPr>
            <a:spLocks noChangeAspect="1"/>
          </p:cNvSpPr>
          <p:nvPr/>
        </p:nvSpPr>
        <p:spPr>
          <a:xfrm>
            <a:off x="4055700" y="2866149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389DA9CC-458D-1065-74A0-84E52E9AEF3E}"/>
              </a:ext>
            </a:extLst>
          </p:cNvPr>
          <p:cNvSpPr>
            <a:spLocks noChangeAspect="1"/>
          </p:cNvSpPr>
          <p:nvPr/>
        </p:nvSpPr>
        <p:spPr>
          <a:xfrm>
            <a:off x="4591660" y="2866149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A2565A19-CA5A-A8D6-A333-D6694CEAA1CD}"/>
              </a:ext>
            </a:extLst>
          </p:cNvPr>
          <p:cNvCxnSpPr>
            <a:stCxn id="6" idx="4"/>
            <a:endCxn id="8" idx="0"/>
          </p:cNvCxnSpPr>
          <p:nvPr/>
        </p:nvCxnSpPr>
        <p:spPr>
          <a:xfrm>
            <a:off x="4163700" y="2677105"/>
            <a:ext cx="0" cy="189044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F51FE35-6D31-98A4-9066-15CB907783E7}"/>
              </a:ext>
            </a:extLst>
          </p:cNvPr>
          <p:cNvCxnSpPr>
            <a:stCxn id="6" idx="2"/>
            <a:endCxn id="7" idx="0"/>
          </p:cNvCxnSpPr>
          <p:nvPr/>
        </p:nvCxnSpPr>
        <p:spPr>
          <a:xfrm flipH="1">
            <a:off x="3627739" y="2569105"/>
            <a:ext cx="427961" cy="304539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69045EE-0022-F472-FA5B-031954B3933F}"/>
              </a:ext>
            </a:extLst>
          </p:cNvPr>
          <p:cNvCxnSpPr>
            <a:stCxn id="6" idx="6"/>
            <a:endCxn id="9" idx="0"/>
          </p:cNvCxnSpPr>
          <p:nvPr/>
        </p:nvCxnSpPr>
        <p:spPr>
          <a:xfrm>
            <a:off x="4271700" y="2569105"/>
            <a:ext cx="427960" cy="297044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2B1DDF16-F4C9-94A3-09E2-2A68E03C1A32}"/>
              </a:ext>
            </a:extLst>
          </p:cNvPr>
          <p:cNvSpPr>
            <a:spLocks noChangeAspect="1"/>
          </p:cNvSpPr>
          <p:nvPr/>
        </p:nvSpPr>
        <p:spPr>
          <a:xfrm>
            <a:off x="4338745" y="3299504"/>
            <a:ext cx="216000" cy="216000"/>
          </a:xfrm>
          <a:prstGeom prst="ellipse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DEA10217-92FB-2F45-AD6C-32066D4C420D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 flipH="1">
            <a:off x="4446745" y="3050517"/>
            <a:ext cx="176547" cy="248987"/>
          </a:xfrm>
          <a:prstGeom prst="straightConnector1">
            <a:avLst/>
          </a:prstGeom>
          <a:ln w="63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椭圆 14">
            <a:extLst>
              <a:ext uri="{FF2B5EF4-FFF2-40B4-BE49-F238E27FC236}">
                <a16:creationId xmlns:a16="http://schemas.microsoft.com/office/drawing/2014/main" id="{99FD7443-FD9D-DE32-4459-800905F2BFE1}"/>
              </a:ext>
            </a:extLst>
          </p:cNvPr>
          <p:cNvSpPr>
            <a:spLocks noChangeAspect="1"/>
          </p:cNvSpPr>
          <p:nvPr/>
        </p:nvSpPr>
        <p:spPr>
          <a:xfrm>
            <a:off x="4851098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D755865-141F-C5F4-BEA0-62D34C17F877}"/>
              </a:ext>
            </a:extLst>
          </p:cNvPr>
          <p:cNvCxnSpPr>
            <a:cxnSpLocks/>
            <a:stCxn id="9" idx="5"/>
            <a:endCxn id="15" idx="0"/>
          </p:cNvCxnSpPr>
          <p:nvPr/>
        </p:nvCxnSpPr>
        <p:spPr>
          <a:xfrm>
            <a:off x="4776028" y="3050517"/>
            <a:ext cx="183070" cy="248987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D22424E3-507C-3B4F-4540-5D7F6FFB03D4}"/>
              </a:ext>
            </a:extLst>
          </p:cNvPr>
          <p:cNvSpPr>
            <a:spLocks noChangeAspect="1"/>
          </p:cNvSpPr>
          <p:nvPr/>
        </p:nvSpPr>
        <p:spPr>
          <a:xfrm>
            <a:off x="3272179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FD23FDD5-4DE0-7A98-C148-878513D1B739}"/>
              </a:ext>
            </a:extLst>
          </p:cNvPr>
          <p:cNvSpPr>
            <a:spLocks noChangeAspect="1"/>
          </p:cNvSpPr>
          <p:nvPr/>
        </p:nvSpPr>
        <p:spPr>
          <a:xfrm>
            <a:off x="3798485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6461B1B-4BFC-E4B5-3E22-7092E3325F7C}"/>
              </a:ext>
            </a:extLst>
          </p:cNvPr>
          <p:cNvCxnSpPr>
            <a:stCxn id="7" idx="3"/>
            <a:endCxn id="17" idx="0"/>
          </p:cNvCxnSpPr>
          <p:nvPr/>
        </p:nvCxnSpPr>
        <p:spPr>
          <a:xfrm flipH="1">
            <a:off x="3380179" y="3058012"/>
            <a:ext cx="171192" cy="24149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AD7B1E1-AD4B-0B75-EE05-E4BFD2C68315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3704107" y="3058012"/>
            <a:ext cx="202378" cy="24149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6AE47020-F22A-5BBD-6A1C-B48FEE736FD8}"/>
              </a:ext>
            </a:extLst>
          </p:cNvPr>
          <p:cNvSpPr>
            <a:spLocks noChangeAspect="1"/>
          </p:cNvSpPr>
          <p:nvPr/>
        </p:nvSpPr>
        <p:spPr>
          <a:xfrm>
            <a:off x="6180800" y="246110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7741349-0525-1E6B-0F1E-53E55E06D9A6}"/>
              </a:ext>
            </a:extLst>
          </p:cNvPr>
          <p:cNvSpPr>
            <a:spLocks noChangeAspect="1"/>
          </p:cNvSpPr>
          <p:nvPr/>
        </p:nvSpPr>
        <p:spPr>
          <a:xfrm>
            <a:off x="5644839" y="287364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B533D4B2-D7DE-7147-1DD1-C8E092E5CF70}"/>
              </a:ext>
            </a:extLst>
          </p:cNvPr>
          <p:cNvSpPr>
            <a:spLocks noChangeAspect="1"/>
          </p:cNvSpPr>
          <p:nvPr/>
        </p:nvSpPr>
        <p:spPr>
          <a:xfrm>
            <a:off x="6180800" y="2866149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1111260F-A7BA-2798-8603-F8B4476EAB57}"/>
              </a:ext>
            </a:extLst>
          </p:cNvPr>
          <p:cNvSpPr>
            <a:spLocks noChangeAspect="1"/>
          </p:cNvSpPr>
          <p:nvPr/>
        </p:nvSpPr>
        <p:spPr>
          <a:xfrm>
            <a:off x="6716760" y="2866149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D3B4AA8-392D-1C6A-F25A-4571AFF4552A}"/>
              </a:ext>
            </a:extLst>
          </p:cNvPr>
          <p:cNvCxnSpPr>
            <a:stCxn id="21" idx="4"/>
            <a:endCxn id="23" idx="0"/>
          </p:cNvCxnSpPr>
          <p:nvPr/>
        </p:nvCxnSpPr>
        <p:spPr>
          <a:xfrm>
            <a:off x="6288800" y="2677105"/>
            <a:ext cx="0" cy="189044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453CFA9-27BF-5855-FBA3-D5A3BCE8EB62}"/>
              </a:ext>
            </a:extLst>
          </p:cNvPr>
          <p:cNvCxnSpPr>
            <a:stCxn id="21" idx="2"/>
            <a:endCxn id="22" idx="0"/>
          </p:cNvCxnSpPr>
          <p:nvPr/>
        </p:nvCxnSpPr>
        <p:spPr>
          <a:xfrm flipH="1">
            <a:off x="5752839" y="2569105"/>
            <a:ext cx="427961" cy="304539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4AD5A7C-EC03-EB22-04FA-9E3566D41867}"/>
              </a:ext>
            </a:extLst>
          </p:cNvPr>
          <p:cNvCxnSpPr>
            <a:stCxn id="21" idx="6"/>
            <a:endCxn id="24" idx="0"/>
          </p:cNvCxnSpPr>
          <p:nvPr/>
        </p:nvCxnSpPr>
        <p:spPr>
          <a:xfrm>
            <a:off x="6396800" y="2569105"/>
            <a:ext cx="427960" cy="297044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2F606F55-E97A-3815-3B6C-CADAD3CAC634}"/>
              </a:ext>
            </a:extLst>
          </p:cNvPr>
          <p:cNvSpPr>
            <a:spLocks noChangeAspect="1"/>
          </p:cNvSpPr>
          <p:nvPr/>
        </p:nvSpPr>
        <p:spPr>
          <a:xfrm>
            <a:off x="6463845" y="3299504"/>
            <a:ext cx="216000" cy="216000"/>
          </a:xfrm>
          <a:prstGeom prst="ellipse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737F2609-6C93-5A7D-5CA2-BAF48DDFD70B}"/>
              </a:ext>
            </a:extLst>
          </p:cNvPr>
          <p:cNvSpPr>
            <a:spLocks noChangeAspect="1"/>
          </p:cNvSpPr>
          <p:nvPr/>
        </p:nvSpPr>
        <p:spPr>
          <a:xfrm>
            <a:off x="6114036" y="365624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ECB9CA4-75E5-E7BA-B120-5CB41B660F22}"/>
              </a:ext>
            </a:extLst>
          </p:cNvPr>
          <p:cNvSpPr>
            <a:spLocks noChangeAspect="1"/>
          </p:cNvSpPr>
          <p:nvPr/>
        </p:nvSpPr>
        <p:spPr>
          <a:xfrm>
            <a:off x="6463845" y="365624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1EE0A52C-42FA-E145-FFAB-174DF2585B8C}"/>
              </a:ext>
            </a:extLst>
          </p:cNvPr>
          <p:cNvSpPr>
            <a:spLocks noChangeAspect="1"/>
          </p:cNvSpPr>
          <p:nvPr/>
        </p:nvSpPr>
        <p:spPr>
          <a:xfrm>
            <a:off x="6813654" y="365624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106B5A49-E1A7-9B22-F523-024AA9CB82C7}"/>
              </a:ext>
            </a:extLst>
          </p:cNvPr>
          <p:cNvCxnSpPr>
            <a:cxnSpLocks/>
            <a:stCxn id="28" idx="4"/>
            <a:endCxn id="30" idx="0"/>
          </p:cNvCxnSpPr>
          <p:nvPr/>
        </p:nvCxnSpPr>
        <p:spPr>
          <a:xfrm>
            <a:off x="6571845" y="3515504"/>
            <a:ext cx="0" cy="140741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32C2045C-1EED-C5F4-7932-035DE2170155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flipH="1">
            <a:off x="6222036" y="3407504"/>
            <a:ext cx="241809" cy="248741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A7A028AB-9074-6949-94AB-36214444A4AD}"/>
              </a:ext>
            </a:extLst>
          </p:cNvPr>
          <p:cNvCxnSpPr>
            <a:cxnSpLocks/>
            <a:stCxn id="28" idx="6"/>
            <a:endCxn id="31" idx="0"/>
          </p:cNvCxnSpPr>
          <p:nvPr/>
        </p:nvCxnSpPr>
        <p:spPr>
          <a:xfrm>
            <a:off x="6679845" y="3407504"/>
            <a:ext cx="241809" cy="248741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C7D9B2A7-9F67-6762-08F8-1D8E6A7778BC}"/>
              </a:ext>
            </a:extLst>
          </p:cNvPr>
          <p:cNvCxnSpPr>
            <a:cxnSpLocks/>
            <a:stCxn id="24" idx="3"/>
            <a:endCxn id="28" idx="0"/>
          </p:cNvCxnSpPr>
          <p:nvPr/>
        </p:nvCxnSpPr>
        <p:spPr>
          <a:xfrm flipH="1">
            <a:off x="6571845" y="3050517"/>
            <a:ext cx="176547" cy="248987"/>
          </a:xfrm>
          <a:prstGeom prst="straightConnector1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F8E24031-DCA2-2DCC-4020-80990F181198}"/>
              </a:ext>
            </a:extLst>
          </p:cNvPr>
          <p:cNvSpPr>
            <a:spLocks noChangeAspect="1"/>
          </p:cNvSpPr>
          <p:nvPr/>
        </p:nvSpPr>
        <p:spPr>
          <a:xfrm>
            <a:off x="6976198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A3CB204-928D-91BF-6D4B-C2EC94C11782}"/>
              </a:ext>
            </a:extLst>
          </p:cNvPr>
          <p:cNvCxnSpPr>
            <a:cxnSpLocks/>
            <a:stCxn id="24" idx="5"/>
            <a:endCxn id="36" idx="0"/>
          </p:cNvCxnSpPr>
          <p:nvPr/>
        </p:nvCxnSpPr>
        <p:spPr>
          <a:xfrm>
            <a:off x="6901128" y="3050517"/>
            <a:ext cx="183070" cy="248987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椭圆 37">
            <a:extLst>
              <a:ext uri="{FF2B5EF4-FFF2-40B4-BE49-F238E27FC236}">
                <a16:creationId xmlns:a16="http://schemas.microsoft.com/office/drawing/2014/main" id="{9C0038F2-C5ED-A936-EF78-6724F4F9BAB3}"/>
              </a:ext>
            </a:extLst>
          </p:cNvPr>
          <p:cNvSpPr>
            <a:spLocks noChangeAspect="1"/>
          </p:cNvSpPr>
          <p:nvPr/>
        </p:nvSpPr>
        <p:spPr>
          <a:xfrm>
            <a:off x="5397279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C060E14C-6104-349A-F212-559DECE4CA38}"/>
              </a:ext>
            </a:extLst>
          </p:cNvPr>
          <p:cNvSpPr>
            <a:spLocks noChangeAspect="1"/>
          </p:cNvSpPr>
          <p:nvPr/>
        </p:nvSpPr>
        <p:spPr>
          <a:xfrm>
            <a:off x="5923585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CCB80224-AB21-19EA-5DF1-0B3431852CA2}"/>
              </a:ext>
            </a:extLst>
          </p:cNvPr>
          <p:cNvCxnSpPr>
            <a:stCxn id="22" idx="3"/>
            <a:endCxn id="38" idx="0"/>
          </p:cNvCxnSpPr>
          <p:nvPr/>
        </p:nvCxnSpPr>
        <p:spPr>
          <a:xfrm flipH="1">
            <a:off x="5505279" y="3058012"/>
            <a:ext cx="171192" cy="24149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56F1B3B5-83DF-0623-6280-B9CE28A797F8}"/>
              </a:ext>
            </a:extLst>
          </p:cNvPr>
          <p:cNvCxnSpPr>
            <a:stCxn id="22" idx="5"/>
            <a:endCxn id="39" idx="0"/>
          </p:cNvCxnSpPr>
          <p:nvPr/>
        </p:nvCxnSpPr>
        <p:spPr>
          <a:xfrm>
            <a:off x="5829207" y="3058012"/>
            <a:ext cx="202378" cy="24149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AC89440C-200C-CEBD-82C1-04FA8AD9CDA6}"/>
              </a:ext>
            </a:extLst>
          </p:cNvPr>
          <p:cNvSpPr>
            <a:spLocks noChangeAspect="1"/>
          </p:cNvSpPr>
          <p:nvPr/>
        </p:nvSpPr>
        <p:spPr>
          <a:xfrm>
            <a:off x="8305900" y="246110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7CD87747-4130-BAAB-7B85-B94E0179FE5C}"/>
              </a:ext>
            </a:extLst>
          </p:cNvPr>
          <p:cNvSpPr>
            <a:spLocks noChangeAspect="1"/>
          </p:cNvSpPr>
          <p:nvPr/>
        </p:nvSpPr>
        <p:spPr>
          <a:xfrm>
            <a:off x="7769939" y="287364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0174C3CF-6C67-E457-4604-DF2235591B37}"/>
              </a:ext>
            </a:extLst>
          </p:cNvPr>
          <p:cNvSpPr>
            <a:spLocks noChangeAspect="1"/>
          </p:cNvSpPr>
          <p:nvPr/>
        </p:nvSpPr>
        <p:spPr>
          <a:xfrm>
            <a:off x="8305900" y="2866149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683A30D6-0653-3952-0B99-F33F974650C4}"/>
              </a:ext>
            </a:extLst>
          </p:cNvPr>
          <p:cNvSpPr>
            <a:spLocks noChangeAspect="1"/>
          </p:cNvSpPr>
          <p:nvPr/>
        </p:nvSpPr>
        <p:spPr>
          <a:xfrm>
            <a:off x="8841860" y="2866149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45BE58E-2545-E42C-272F-5AE0FFA07C98}"/>
              </a:ext>
            </a:extLst>
          </p:cNvPr>
          <p:cNvCxnSpPr>
            <a:stCxn id="42" idx="4"/>
            <a:endCxn id="44" idx="0"/>
          </p:cNvCxnSpPr>
          <p:nvPr/>
        </p:nvCxnSpPr>
        <p:spPr>
          <a:xfrm>
            <a:off x="8413900" y="2677105"/>
            <a:ext cx="0" cy="189044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2D9D5275-E9E6-1D8A-ADE7-836A4ACDBDC5}"/>
              </a:ext>
            </a:extLst>
          </p:cNvPr>
          <p:cNvCxnSpPr>
            <a:stCxn id="42" idx="2"/>
            <a:endCxn id="43" idx="0"/>
          </p:cNvCxnSpPr>
          <p:nvPr/>
        </p:nvCxnSpPr>
        <p:spPr>
          <a:xfrm flipH="1">
            <a:off x="7877939" y="2569105"/>
            <a:ext cx="427961" cy="304539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D16566D-8448-1012-943F-7322A52466B1}"/>
              </a:ext>
            </a:extLst>
          </p:cNvPr>
          <p:cNvCxnSpPr>
            <a:stCxn id="42" idx="6"/>
            <a:endCxn id="45" idx="0"/>
          </p:cNvCxnSpPr>
          <p:nvPr/>
        </p:nvCxnSpPr>
        <p:spPr>
          <a:xfrm>
            <a:off x="8521900" y="2569105"/>
            <a:ext cx="427960" cy="297044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E31E20DE-E7E5-4DEC-DBC2-F9D91D5995C2}"/>
              </a:ext>
            </a:extLst>
          </p:cNvPr>
          <p:cNvSpPr>
            <a:spLocks noChangeAspect="1"/>
          </p:cNvSpPr>
          <p:nvPr/>
        </p:nvSpPr>
        <p:spPr>
          <a:xfrm>
            <a:off x="8588945" y="3299504"/>
            <a:ext cx="216000" cy="216000"/>
          </a:xfrm>
          <a:prstGeom prst="ellipse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E2059287-C5BD-08E7-F6A2-1DABBC931594}"/>
              </a:ext>
            </a:extLst>
          </p:cNvPr>
          <p:cNvSpPr>
            <a:spLocks noChangeAspect="1"/>
          </p:cNvSpPr>
          <p:nvPr/>
        </p:nvSpPr>
        <p:spPr>
          <a:xfrm>
            <a:off x="8239136" y="365624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52BEF4AB-87E6-756C-B4F1-8DB6960FFEF3}"/>
              </a:ext>
            </a:extLst>
          </p:cNvPr>
          <p:cNvSpPr>
            <a:spLocks noChangeAspect="1"/>
          </p:cNvSpPr>
          <p:nvPr/>
        </p:nvSpPr>
        <p:spPr>
          <a:xfrm>
            <a:off x="8588945" y="365624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3DD68E7E-3C28-2355-F9A0-937AE2F13BF1}"/>
              </a:ext>
            </a:extLst>
          </p:cNvPr>
          <p:cNvSpPr>
            <a:spLocks noChangeAspect="1"/>
          </p:cNvSpPr>
          <p:nvPr/>
        </p:nvSpPr>
        <p:spPr>
          <a:xfrm>
            <a:off x="8938754" y="365624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9A00B7BE-A2C9-DFE9-E016-C1C2BF0CF70E}"/>
              </a:ext>
            </a:extLst>
          </p:cNvPr>
          <p:cNvCxnSpPr>
            <a:cxnSpLocks/>
            <a:stCxn id="49" idx="4"/>
            <a:endCxn id="51" idx="0"/>
          </p:cNvCxnSpPr>
          <p:nvPr/>
        </p:nvCxnSpPr>
        <p:spPr>
          <a:xfrm>
            <a:off x="8696945" y="3515504"/>
            <a:ext cx="0" cy="140741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1497168E-41A7-D306-E412-64E4ABDDF9C1}"/>
              </a:ext>
            </a:extLst>
          </p:cNvPr>
          <p:cNvCxnSpPr>
            <a:cxnSpLocks/>
            <a:stCxn id="49" idx="2"/>
            <a:endCxn id="50" idx="0"/>
          </p:cNvCxnSpPr>
          <p:nvPr/>
        </p:nvCxnSpPr>
        <p:spPr>
          <a:xfrm flipH="1">
            <a:off x="8347136" y="3407504"/>
            <a:ext cx="241809" cy="248741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917D0010-A9D6-7DCD-B824-F4ECB658BC20}"/>
              </a:ext>
            </a:extLst>
          </p:cNvPr>
          <p:cNvCxnSpPr>
            <a:cxnSpLocks/>
            <a:stCxn id="49" idx="6"/>
            <a:endCxn id="52" idx="0"/>
          </p:cNvCxnSpPr>
          <p:nvPr/>
        </p:nvCxnSpPr>
        <p:spPr>
          <a:xfrm>
            <a:off x="8804945" y="3407504"/>
            <a:ext cx="241809" cy="248741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46D8FF08-A2DC-1DF7-5BC0-DD0DF8510C1B}"/>
              </a:ext>
            </a:extLst>
          </p:cNvPr>
          <p:cNvCxnSpPr>
            <a:cxnSpLocks/>
            <a:stCxn id="45" idx="3"/>
            <a:endCxn id="49" idx="0"/>
          </p:cNvCxnSpPr>
          <p:nvPr/>
        </p:nvCxnSpPr>
        <p:spPr>
          <a:xfrm flipH="1">
            <a:off x="8696945" y="3050517"/>
            <a:ext cx="176547" cy="248987"/>
          </a:xfrm>
          <a:prstGeom prst="straightConnector1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F4F65D41-BB91-3E74-A373-0991999FBC14}"/>
              </a:ext>
            </a:extLst>
          </p:cNvPr>
          <p:cNvSpPr>
            <a:spLocks noChangeAspect="1"/>
          </p:cNvSpPr>
          <p:nvPr/>
        </p:nvSpPr>
        <p:spPr>
          <a:xfrm>
            <a:off x="9101298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0C0DBC8E-539F-F5D8-CB5E-DE667728D718}"/>
              </a:ext>
            </a:extLst>
          </p:cNvPr>
          <p:cNvCxnSpPr>
            <a:cxnSpLocks/>
            <a:stCxn id="45" idx="5"/>
            <a:endCxn id="57" idx="0"/>
          </p:cNvCxnSpPr>
          <p:nvPr/>
        </p:nvCxnSpPr>
        <p:spPr>
          <a:xfrm>
            <a:off x="9026228" y="3050517"/>
            <a:ext cx="183070" cy="248987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6EC0BB31-4634-68F6-D84B-71432A2E2941}"/>
              </a:ext>
            </a:extLst>
          </p:cNvPr>
          <p:cNvSpPr>
            <a:spLocks noChangeAspect="1"/>
          </p:cNvSpPr>
          <p:nvPr/>
        </p:nvSpPr>
        <p:spPr>
          <a:xfrm>
            <a:off x="7522379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D225A2F2-6F61-6434-6A54-24FAF79D5C79}"/>
              </a:ext>
            </a:extLst>
          </p:cNvPr>
          <p:cNvSpPr>
            <a:spLocks noChangeAspect="1"/>
          </p:cNvSpPr>
          <p:nvPr/>
        </p:nvSpPr>
        <p:spPr>
          <a:xfrm>
            <a:off x="8048685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E0B59F2-7BAF-5900-7A36-516022DD9B46}"/>
              </a:ext>
            </a:extLst>
          </p:cNvPr>
          <p:cNvCxnSpPr>
            <a:stCxn id="43" idx="3"/>
            <a:endCxn id="59" idx="0"/>
          </p:cNvCxnSpPr>
          <p:nvPr/>
        </p:nvCxnSpPr>
        <p:spPr>
          <a:xfrm flipH="1">
            <a:off x="7630379" y="3058012"/>
            <a:ext cx="171192" cy="24149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93D4BD1-D8A1-F4C5-382E-017F679FF4E6}"/>
              </a:ext>
            </a:extLst>
          </p:cNvPr>
          <p:cNvCxnSpPr>
            <a:stCxn id="43" idx="5"/>
            <a:endCxn id="60" idx="0"/>
          </p:cNvCxnSpPr>
          <p:nvPr/>
        </p:nvCxnSpPr>
        <p:spPr>
          <a:xfrm>
            <a:off x="7954307" y="3058012"/>
            <a:ext cx="202378" cy="24149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椭圆 62">
            <a:extLst>
              <a:ext uri="{FF2B5EF4-FFF2-40B4-BE49-F238E27FC236}">
                <a16:creationId xmlns:a16="http://schemas.microsoft.com/office/drawing/2014/main" id="{355B944A-4552-81D2-F9FE-29D0F1A8341C}"/>
              </a:ext>
            </a:extLst>
          </p:cNvPr>
          <p:cNvSpPr>
            <a:spLocks noChangeAspect="1"/>
          </p:cNvSpPr>
          <p:nvPr/>
        </p:nvSpPr>
        <p:spPr>
          <a:xfrm>
            <a:off x="10431000" y="246110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94F26DB-C617-E4E0-8ACF-9F833CBD450A}"/>
              </a:ext>
            </a:extLst>
          </p:cNvPr>
          <p:cNvSpPr>
            <a:spLocks noChangeAspect="1"/>
          </p:cNvSpPr>
          <p:nvPr/>
        </p:nvSpPr>
        <p:spPr>
          <a:xfrm>
            <a:off x="9895039" y="287364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CE85D90B-E786-8E58-293D-D9B1A9B95426}"/>
              </a:ext>
            </a:extLst>
          </p:cNvPr>
          <p:cNvSpPr>
            <a:spLocks noChangeAspect="1"/>
          </p:cNvSpPr>
          <p:nvPr/>
        </p:nvSpPr>
        <p:spPr>
          <a:xfrm>
            <a:off x="10431000" y="2866149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1E46D8AC-6D9C-9F51-7547-3CBE5D241677}"/>
              </a:ext>
            </a:extLst>
          </p:cNvPr>
          <p:cNvSpPr>
            <a:spLocks noChangeAspect="1"/>
          </p:cNvSpPr>
          <p:nvPr/>
        </p:nvSpPr>
        <p:spPr>
          <a:xfrm>
            <a:off x="10966960" y="2866149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BF76C136-F260-85A2-8A79-E3D79CE51BF4}"/>
              </a:ext>
            </a:extLst>
          </p:cNvPr>
          <p:cNvCxnSpPr>
            <a:stCxn id="63" idx="4"/>
            <a:endCxn id="65" idx="0"/>
          </p:cNvCxnSpPr>
          <p:nvPr/>
        </p:nvCxnSpPr>
        <p:spPr>
          <a:xfrm>
            <a:off x="10539000" y="2677105"/>
            <a:ext cx="0" cy="189044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C15A61C-2CBD-AE79-7392-B9DEE5881183}"/>
              </a:ext>
            </a:extLst>
          </p:cNvPr>
          <p:cNvCxnSpPr>
            <a:stCxn id="63" idx="2"/>
            <a:endCxn id="64" idx="0"/>
          </p:cNvCxnSpPr>
          <p:nvPr/>
        </p:nvCxnSpPr>
        <p:spPr>
          <a:xfrm flipH="1">
            <a:off x="10003039" y="2569105"/>
            <a:ext cx="427961" cy="304539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0836EC9-33CC-DCC9-BF51-76EA97ECB487}"/>
              </a:ext>
            </a:extLst>
          </p:cNvPr>
          <p:cNvCxnSpPr>
            <a:stCxn id="63" idx="6"/>
            <a:endCxn id="66" idx="0"/>
          </p:cNvCxnSpPr>
          <p:nvPr/>
        </p:nvCxnSpPr>
        <p:spPr>
          <a:xfrm>
            <a:off x="10647000" y="2569105"/>
            <a:ext cx="427960" cy="297044"/>
          </a:xfrm>
          <a:prstGeom prst="line">
            <a:avLst/>
          </a:prstGeom>
          <a:ln w="63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椭圆 69">
            <a:extLst>
              <a:ext uri="{FF2B5EF4-FFF2-40B4-BE49-F238E27FC236}">
                <a16:creationId xmlns:a16="http://schemas.microsoft.com/office/drawing/2014/main" id="{EBA2C1BA-C234-020F-9872-9F834C1D0281}"/>
              </a:ext>
            </a:extLst>
          </p:cNvPr>
          <p:cNvSpPr>
            <a:spLocks noChangeAspect="1"/>
          </p:cNvSpPr>
          <p:nvPr/>
        </p:nvSpPr>
        <p:spPr>
          <a:xfrm>
            <a:off x="10714045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69EEEB91-2944-0073-98A4-66BE10E82A64}"/>
              </a:ext>
            </a:extLst>
          </p:cNvPr>
          <p:cNvSpPr>
            <a:spLocks noChangeAspect="1"/>
          </p:cNvSpPr>
          <p:nvPr/>
        </p:nvSpPr>
        <p:spPr>
          <a:xfrm>
            <a:off x="10364236" y="365624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9CA9828D-D725-4B48-E96D-7CFD83B131C6}"/>
              </a:ext>
            </a:extLst>
          </p:cNvPr>
          <p:cNvSpPr>
            <a:spLocks noChangeAspect="1"/>
          </p:cNvSpPr>
          <p:nvPr/>
        </p:nvSpPr>
        <p:spPr>
          <a:xfrm>
            <a:off x="10714045" y="365624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010673C2-D944-F0AA-F6C2-B2F051DD2EFD}"/>
              </a:ext>
            </a:extLst>
          </p:cNvPr>
          <p:cNvSpPr>
            <a:spLocks noChangeAspect="1"/>
          </p:cNvSpPr>
          <p:nvPr/>
        </p:nvSpPr>
        <p:spPr>
          <a:xfrm>
            <a:off x="11063854" y="3656245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E2F16CB-DA57-1406-0697-3544E37BA073}"/>
              </a:ext>
            </a:extLst>
          </p:cNvPr>
          <p:cNvCxnSpPr>
            <a:cxnSpLocks/>
            <a:stCxn id="70" idx="4"/>
            <a:endCxn id="72" idx="0"/>
          </p:cNvCxnSpPr>
          <p:nvPr/>
        </p:nvCxnSpPr>
        <p:spPr>
          <a:xfrm>
            <a:off x="10822045" y="3515504"/>
            <a:ext cx="0" cy="140741"/>
          </a:xfrm>
          <a:prstGeom prst="line">
            <a:avLst/>
          </a:prstGeom>
          <a:ln w="63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4A864CAC-1257-18C9-6A3E-6D8A4013D217}"/>
              </a:ext>
            </a:extLst>
          </p:cNvPr>
          <p:cNvCxnSpPr>
            <a:cxnSpLocks/>
            <a:stCxn id="70" idx="2"/>
            <a:endCxn id="71" idx="0"/>
          </p:cNvCxnSpPr>
          <p:nvPr/>
        </p:nvCxnSpPr>
        <p:spPr>
          <a:xfrm flipH="1">
            <a:off x="10472236" y="3407504"/>
            <a:ext cx="241809" cy="248741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8E0AF2D-17B4-1923-C8F1-1278FAF7EF7E}"/>
              </a:ext>
            </a:extLst>
          </p:cNvPr>
          <p:cNvCxnSpPr>
            <a:cxnSpLocks/>
            <a:stCxn id="70" idx="6"/>
            <a:endCxn id="73" idx="0"/>
          </p:cNvCxnSpPr>
          <p:nvPr/>
        </p:nvCxnSpPr>
        <p:spPr>
          <a:xfrm>
            <a:off x="10930045" y="3407504"/>
            <a:ext cx="241809" cy="248741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2FF4D4C0-7761-5F60-023D-4C8CA1D30A3C}"/>
              </a:ext>
            </a:extLst>
          </p:cNvPr>
          <p:cNvCxnSpPr>
            <a:cxnSpLocks/>
            <a:stCxn id="66" idx="3"/>
            <a:endCxn id="70" idx="0"/>
          </p:cNvCxnSpPr>
          <p:nvPr/>
        </p:nvCxnSpPr>
        <p:spPr>
          <a:xfrm flipH="1">
            <a:off x="10822045" y="3050517"/>
            <a:ext cx="176547" cy="248987"/>
          </a:xfrm>
          <a:prstGeom prst="straightConnector1">
            <a:avLst/>
          </a:prstGeom>
          <a:ln w="63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椭圆 77">
            <a:extLst>
              <a:ext uri="{FF2B5EF4-FFF2-40B4-BE49-F238E27FC236}">
                <a16:creationId xmlns:a16="http://schemas.microsoft.com/office/drawing/2014/main" id="{F90BFFCC-0C73-89A9-C976-732A68090C9E}"/>
              </a:ext>
            </a:extLst>
          </p:cNvPr>
          <p:cNvSpPr>
            <a:spLocks noChangeAspect="1"/>
          </p:cNvSpPr>
          <p:nvPr/>
        </p:nvSpPr>
        <p:spPr>
          <a:xfrm>
            <a:off x="11226398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123768-4B0B-F03C-0C9B-524C5A8DDE13}"/>
              </a:ext>
            </a:extLst>
          </p:cNvPr>
          <p:cNvCxnSpPr>
            <a:cxnSpLocks/>
            <a:stCxn id="66" idx="5"/>
            <a:endCxn id="78" idx="0"/>
          </p:cNvCxnSpPr>
          <p:nvPr/>
        </p:nvCxnSpPr>
        <p:spPr>
          <a:xfrm>
            <a:off x="11151328" y="3050517"/>
            <a:ext cx="183070" cy="248987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椭圆 79">
            <a:extLst>
              <a:ext uri="{FF2B5EF4-FFF2-40B4-BE49-F238E27FC236}">
                <a16:creationId xmlns:a16="http://schemas.microsoft.com/office/drawing/2014/main" id="{171AD74B-5D15-0F37-E1A5-664E16FCB753}"/>
              </a:ext>
            </a:extLst>
          </p:cNvPr>
          <p:cNvSpPr>
            <a:spLocks noChangeAspect="1"/>
          </p:cNvSpPr>
          <p:nvPr/>
        </p:nvSpPr>
        <p:spPr>
          <a:xfrm>
            <a:off x="9647479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39C1AE98-F035-44A2-0DC3-B17A69A90DCB}"/>
              </a:ext>
            </a:extLst>
          </p:cNvPr>
          <p:cNvSpPr>
            <a:spLocks noChangeAspect="1"/>
          </p:cNvSpPr>
          <p:nvPr/>
        </p:nvSpPr>
        <p:spPr>
          <a:xfrm>
            <a:off x="10173785" y="329950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D9ED9E47-9BE3-7B83-F68C-0AD594AE4B63}"/>
              </a:ext>
            </a:extLst>
          </p:cNvPr>
          <p:cNvCxnSpPr>
            <a:stCxn id="64" idx="3"/>
            <a:endCxn id="80" idx="0"/>
          </p:cNvCxnSpPr>
          <p:nvPr/>
        </p:nvCxnSpPr>
        <p:spPr>
          <a:xfrm flipH="1">
            <a:off x="9755479" y="3058012"/>
            <a:ext cx="171192" cy="24149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171E8F89-D058-0BC3-C78F-6925B0F89A3B}"/>
              </a:ext>
            </a:extLst>
          </p:cNvPr>
          <p:cNvCxnSpPr>
            <a:stCxn id="64" idx="5"/>
            <a:endCxn id="81" idx="0"/>
          </p:cNvCxnSpPr>
          <p:nvPr/>
        </p:nvCxnSpPr>
        <p:spPr>
          <a:xfrm>
            <a:off x="10079407" y="3058012"/>
            <a:ext cx="202378" cy="24149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B4E8EC7B-E262-44D8-586B-4693C69CB67E}"/>
              </a:ext>
            </a:extLst>
          </p:cNvPr>
          <p:cNvGrpSpPr/>
          <p:nvPr/>
        </p:nvGrpSpPr>
        <p:grpSpPr>
          <a:xfrm>
            <a:off x="8681313" y="3536182"/>
            <a:ext cx="1667212" cy="396000"/>
            <a:chOff x="7245732" y="3770190"/>
            <a:chExt cx="1667212" cy="396000"/>
          </a:xfrm>
        </p:grpSpPr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EA472EE4-D04F-BFCB-1BC2-9A183A01BC25}"/>
                </a:ext>
              </a:extLst>
            </p:cNvPr>
            <p:cNvCxnSpPr>
              <a:cxnSpLocks/>
              <a:stCxn id="51" idx="4"/>
            </p:cNvCxnSpPr>
            <p:nvPr/>
          </p:nvCxnSpPr>
          <p:spPr>
            <a:xfrm>
              <a:off x="8696944" y="3872245"/>
              <a:ext cx="216000" cy="180000"/>
            </a:xfrm>
            <a:prstGeom prst="line">
              <a:avLst/>
            </a:prstGeom>
            <a:ln w="12700">
              <a:solidFill>
                <a:srgbClr val="FF000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>
              <a:extLst>
                <a:ext uri="{FF2B5EF4-FFF2-40B4-BE49-F238E27FC236}">
                  <a16:creationId xmlns:a16="http://schemas.microsoft.com/office/drawing/2014/main" id="{6F3946EC-9738-2A41-0797-8B0FA135D215}"/>
                </a:ext>
              </a:extLst>
            </p:cNvPr>
            <p:cNvCxnSpPr/>
            <p:nvPr/>
          </p:nvCxnSpPr>
          <p:spPr>
            <a:xfrm flipH="1">
              <a:off x="7245732" y="3770190"/>
              <a:ext cx="216000" cy="216000"/>
            </a:xfrm>
            <a:prstGeom prst="line">
              <a:avLst/>
            </a:prstGeom>
            <a:ln w="12700">
              <a:solidFill>
                <a:srgbClr val="FF000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DD158D6-F133-735D-C7FE-6B97EC463CA4}"/>
                </a:ext>
              </a:extLst>
            </p:cNvPr>
            <p:cNvCxnSpPr>
              <a:cxnSpLocks/>
            </p:cNvCxnSpPr>
            <p:nvPr/>
          </p:nvCxnSpPr>
          <p:spPr>
            <a:xfrm>
              <a:off x="7245732" y="3986190"/>
              <a:ext cx="216000" cy="180000"/>
            </a:xfrm>
            <a:prstGeom prst="line">
              <a:avLst/>
            </a:prstGeom>
            <a:ln w="12700">
              <a:solidFill>
                <a:srgbClr val="FF0000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矩形 87">
            <a:extLst>
              <a:ext uri="{FF2B5EF4-FFF2-40B4-BE49-F238E27FC236}">
                <a16:creationId xmlns:a16="http://schemas.microsoft.com/office/drawing/2014/main" id="{9BB2020C-965C-DD22-A2C9-A5E7CD967DD7}"/>
              </a:ext>
            </a:extLst>
          </p:cNvPr>
          <p:cNvSpPr/>
          <p:nvPr/>
        </p:nvSpPr>
        <p:spPr>
          <a:xfrm>
            <a:off x="5496800" y="1893572"/>
            <a:ext cx="1584000" cy="32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Expansion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9972F174-A50D-30FA-E9C5-664D88E1AF18}"/>
              </a:ext>
            </a:extLst>
          </p:cNvPr>
          <p:cNvSpPr/>
          <p:nvPr/>
        </p:nvSpPr>
        <p:spPr>
          <a:xfrm>
            <a:off x="3371700" y="1893572"/>
            <a:ext cx="1584000" cy="32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Selection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FA881D-56EE-D28C-2370-F9398DA3A5C3}"/>
              </a:ext>
            </a:extLst>
          </p:cNvPr>
          <p:cNvSpPr/>
          <p:nvPr/>
        </p:nvSpPr>
        <p:spPr>
          <a:xfrm>
            <a:off x="7621900" y="1893572"/>
            <a:ext cx="1584000" cy="32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Simulation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4F966EC7-F875-0DD9-55F8-2862586800B5}"/>
              </a:ext>
            </a:extLst>
          </p:cNvPr>
          <p:cNvSpPr/>
          <p:nvPr/>
        </p:nvSpPr>
        <p:spPr>
          <a:xfrm>
            <a:off x="9747000" y="1893572"/>
            <a:ext cx="2016000" cy="32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Back-propagation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566D3217-040E-7838-25A5-40F8C40A0A32}"/>
              </a:ext>
            </a:extLst>
          </p:cNvPr>
          <p:cNvSpPr/>
          <p:nvPr/>
        </p:nvSpPr>
        <p:spPr>
          <a:xfrm>
            <a:off x="6497666" y="1325318"/>
            <a:ext cx="2196000" cy="32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Iterate several times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B476D7A6-3306-8654-3A85-B868A92DF8D9}"/>
              </a:ext>
            </a:extLst>
          </p:cNvPr>
          <p:cNvCxnSpPr>
            <a:stCxn id="89" idx="3"/>
            <a:endCxn id="88" idx="1"/>
          </p:cNvCxnSpPr>
          <p:nvPr/>
        </p:nvCxnSpPr>
        <p:spPr>
          <a:xfrm>
            <a:off x="4955700" y="2055572"/>
            <a:ext cx="541100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FF2F72B9-99FF-C81C-8310-B4B31F1CEB83}"/>
              </a:ext>
            </a:extLst>
          </p:cNvPr>
          <p:cNvCxnSpPr>
            <a:stCxn id="88" idx="3"/>
            <a:endCxn id="90" idx="1"/>
          </p:cNvCxnSpPr>
          <p:nvPr/>
        </p:nvCxnSpPr>
        <p:spPr>
          <a:xfrm>
            <a:off x="7080800" y="2055572"/>
            <a:ext cx="541100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>
            <a:extLst>
              <a:ext uri="{FF2B5EF4-FFF2-40B4-BE49-F238E27FC236}">
                <a16:creationId xmlns:a16="http://schemas.microsoft.com/office/drawing/2014/main" id="{0C9EE70D-CC29-9ECE-9AF8-BF82B15B76F3}"/>
              </a:ext>
            </a:extLst>
          </p:cNvPr>
          <p:cNvCxnSpPr>
            <a:stCxn id="90" idx="3"/>
            <a:endCxn id="91" idx="1"/>
          </p:cNvCxnSpPr>
          <p:nvPr/>
        </p:nvCxnSpPr>
        <p:spPr>
          <a:xfrm>
            <a:off x="9205900" y="2055572"/>
            <a:ext cx="541100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肘形 95">
            <a:extLst>
              <a:ext uri="{FF2B5EF4-FFF2-40B4-BE49-F238E27FC236}">
                <a16:creationId xmlns:a16="http://schemas.microsoft.com/office/drawing/2014/main" id="{57588D6C-BB5B-DF75-6B68-2FE2A388C55D}"/>
              </a:ext>
            </a:extLst>
          </p:cNvPr>
          <p:cNvCxnSpPr>
            <a:stCxn id="91" idx="3"/>
            <a:endCxn id="92" idx="3"/>
          </p:cNvCxnSpPr>
          <p:nvPr/>
        </p:nvCxnSpPr>
        <p:spPr>
          <a:xfrm flipH="1" flipV="1">
            <a:off x="8693666" y="1487318"/>
            <a:ext cx="3069334" cy="568254"/>
          </a:xfrm>
          <a:prstGeom prst="bentConnector3">
            <a:avLst>
              <a:gd name="adj1" fmla="val -7448"/>
            </a:avLst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连接符: 肘形 96">
            <a:extLst>
              <a:ext uri="{FF2B5EF4-FFF2-40B4-BE49-F238E27FC236}">
                <a16:creationId xmlns:a16="http://schemas.microsoft.com/office/drawing/2014/main" id="{CAFD8D43-1440-7D1A-4352-ABE138C4291F}"/>
              </a:ext>
            </a:extLst>
          </p:cNvPr>
          <p:cNvCxnSpPr>
            <a:stCxn id="92" idx="1"/>
            <a:endCxn id="89" idx="1"/>
          </p:cNvCxnSpPr>
          <p:nvPr/>
        </p:nvCxnSpPr>
        <p:spPr>
          <a:xfrm rot="10800000" flipV="1">
            <a:off x="3371700" y="1487318"/>
            <a:ext cx="3125966" cy="568254"/>
          </a:xfrm>
          <a:prstGeom prst="bentConnector3">
            <a:avLst>
              <a:gd name="adj1" fmla="val 107313"/>
            </a:avLst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椭圆 97">
            <a:extLst>
              <a:ext uri="{FF2B5EF4-FFF2-40B4-BE49-F238E27FC236}">
                <a16:creationId xmlns:a16="http://schemas.microsoft.com/office/drawing/2014/main" id="{77771BBB-9D46-A714-28BD-6238B477011E}"/>
              </a:ext>
            </a:extLst>
          </p:cNvPr>
          <p:cNvSpPr>
            <a:spLocks noChangeAspect="1"/>
          </p:cNvSpPr>
          <p:nvPr/>
        </p:nvSpPr>
        <p:spPr>
          <a:xfrm>
            <a:off x="1039642" y="2360600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椭圆 98">
            <a:extLst>
              <a:ext uri="{FF2B5EF4-FFF2-40B4-BE49-F238E27FC236}">
                <a16:creationId xmlns:a16="http://schemas.microsoft.com/office/drawing/2014/main" id="{A352589B-B72E-60AC-8A76-1B9C63DABF78}"/>
              </a:ext>
            </a:extLst>
          </p:cNvPr>
          <p:cNvSpPr>
            <a:spLocks noChangeAspect="1"/>
          </p:cNvSpPr>
          <p:nvPr/>
        </p:nvSpPr>
        <p:spPr>
          <a:xfrm>
            <a:off x="503681" y="2773139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椭圆 99">
            <a:extLst>
              <a:ext uri="{FF2B5EF4-FFF2-40B4-BE49-F238E27FC236}">
                <a16:creationId xmlns:a16="http://schemas.microsoft.com/office/drawing/2014/main" id="{E560116D-9627-ED5E-8B72-977F4EFC9A36}"/>
              </a:ext>
            </a:extLst>
          </p:cNvPr>
          <p:cNvSpPr>
            <a:spLocks noChangeAspect="1"/>
          </p:cNvSpPr>
          <p:nvPr/>
        </p:nvSpPr>
        <p:spPr>
          <a:xfrm>
            <a:off x="1039642" y="276564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椭圆 100">
            <a:extLst>
              <a:ext uri="{FF2B5EF4-FFF2-40B4-BE49-F238E27FC236}">
                <a16:creationId xmlns:a16="http://schemas.microsoft.com/office/drawing/2014/main" id="{F2677741-ED68-E54A-A56D-265ACF083CD5}"/>
              </a:ext>
            </a:extLst>
          </p:cNvPr>
          <p:cNvSpPr>
            <a:spLocks noChangeAspect="1"/>
          </p:cNvSpPr>
          <p:nvPr/>
        </p:nvSpPr>
        <p:spPr>
          <a:xfrm>
            <a:off x="1575602" y="2765644"/>
            <a:ext cx="216000" cy="216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EB973EBD-E618-53E4-0A3F-D21D3006E266}"/>
              </a:ext>
            </a:extLst>
          </p:cNvPr>
          <p:cNvCxnSpPr>
            <a:stCxn id="98" idx="4"/>
            <a:endCxn id="100" idx="0"/>
          </p:cNvCxnSpPr>
          <p:nvPr/>
        </p:nvCxnSpPr>
        <p:spPr>
          <a:xfrm>
            <a:off x="1147642" y="2576600"/>
            <a:ext cx="0" cy="189044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B41EA967-ABCC-AF9D-0C98-994F922F7802}"/>
              </a:ext>
            </a:extLst>
          </p:cNvPr>
          <p:cNvCxnSpPr>
            <a:stCxn id="98" idx="2"/>
            <a:endCxn id="99" idx="0"/>
          </p:cNvCxnSpPr>
          <p:nvPr/>
        </p:nvCxnSpPr>
        <p:spPr>
          <a:xfrm flipH="1">
            <a:off x="611681" y="2468600"/>
            <a:ext cx="427961" cy="304539"/>
          </a:xfrm>
          <a:prstGeom prst="line">
            <a:avLst/>
          </a:prstGeom>
          <a:ln w="19050">
            <a:solidFill>
              <a:srgbClr val="C0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9512BB82-BA13-C673-C7BF-9633B2EB9EF6}"/>
              </a:ext>
            </a:extLst>
          </p:cNvPr>
          <p:cNvCxnSpPr>
            <a:stCxn id="98" idx="6"/>
            <a:endCxn id="101" idx="0"/>
          </p:cNvCxnSpPr>
          <p:nvPr/>
        </p:nvCxnSpPr>
        <p:spPr>
          <a:xfrm>
            <a:off x="1255642" y="2468600"/>
            <a:ext cx="427960" cy="297044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528DD42-74C4-01A5-DCE9-42F098D8CAA4}"/>
              </a:ext>
            </a:extLst>
          </p:cNvPr>
          <p:cNvSpPr txBox="1"/>
          <p:nvPr/>
        </p:nvSpPr>
        <p:spPr>
          <a:xfrm>
            <a:off x="377588" y="3515504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模型倾向的动作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B2D90E97-4ECF-78CC-4ABF-CA3EBDD883A3}"/>
              </a:ext>
            </a:extLst>
          </p:cNvPr>
          <p:cNvSpPr txBox="1"/>
          <p:nvPr/>
        </p:nvSpPr>
        <p:spPr>
          <a:xfrm>
            <a:off x="6308279" y="413798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探索其他分支</a:t>
            </a:r>
          </a:p>
        </p:txBody>
      </p:sp>
    </p:spTree>
    <p:extLst>
      <p:ext uri="{BB962C8B-B14F-4D97-AF65-F5344CB8AC3E}">
        <p14:creationId xmlns:p14="http://schemas.microsoft.com/office/powerpoint/2010/main" val="1053551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2E10AD4-B0CE-1006-72FA-0436F45C6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 </a:t>
            </a:r>
            <a:r>
              <a:rPr lang="en-US" altLang="zh-CN" dirty="0" err="1"/>
              <a:t>v.s</a:t>
            </a:r>
            <a:r>
              <a:rPr lang="en-US" altLang="zh-CN" dirty="0"/>
              <a:t>. </a:t>
            </a:r>
            <a:r>
              <a:rPr lang="en-US" altLang="zh-CN" dirty="0" err="1"/>
              <a:t>heurisitc</a:t>
            </a:r>
            <a:endParaRPr lang="zh-CN" altLang="en-US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20592F4-7A91-21C9-6B0F-B756FAA32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暂时不如启发式</a:t>
            </a:r>
            <a:endParaRPr lang="en-US" altLang="zh-CN" dirty="0"/>
          </a:p>
          <a:p>
            <a:r>
              <a:rPr lang="en-US" altLang="zh-CN" dirty="0"/>
              <a:t>AI</a:t>
            </a:r>
            <a:r>
              <a:rPr lang="zh-CN" altLang="en-US" dirty="0"/>
              <a:t>会迷路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26C74E3-3CBB-57C4-C629-5F095AD59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12</a:t>
            </a:fld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D3664FF-5BD3-C88A-D5BA-89B8C4864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19" y="0"/>
            <a:ext cx="73218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79364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tx1"/>
          </a:solidFill>
        </a:ln>
      </a:spPr>
      <a:bodyPr wrap="square" rtlCol="0" anchor="ctr">
        <a:spAutoFit/>
      </a:bodyPr>
      <a:lstStyle>
        <a:defPPr algn="ctr">
          <a:defRPr dirty="0">
            <a:latin typeface="微软雅黑" pitchFamily="34" charset="-122"/>
            <a:ea typeface="微软雅黑" pitchFamily="34" charset="-122"/>
          </a:defRPr>
        </a:defPPr>
      </a:lstStyle>
    </a:spDef>
    <a:lnDef>
      <a:spPr>
        <a:ln w="19050">
          <a:solidFill>
            <a:srgbClr val="C00000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sh答辩" id="{04017E27-01F6-4C48-BB9D-DAB75066864B}" vid="{0642D14E-0680-BF47-9FE6-EE2E04DFE772}"/>
    </a:ext>
  </a:extLst>
</a:theme>
</file>

<file path=ppt/theme/theme2.xml><?xml version="1.0" encoding="utf-8"?>
<a:theme xmlns:a="http://schemas.openxmlformats.org/drawingml/2006/main" name="毕设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sh答辩" id="{04017E27-01F6-4C48-BB9D-DAB75066864B}" vid="{A580D086-0C03-CD49-BF00-8BBA58F514D6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1_Office 主题​​</Template>
  <TotalTime>5189</TotalTime>
  <Words>826</Words>
  <Application>Microsoft Office PowerPoint</Application>
  <PresentationFormat>宽屏</PresentationFormat>
  <Paragraphs>225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等线</vt:lpstr>
      <vt:lpstr>微软雅黑</vt:lpstr>
      <vt:lpstr>Arial</vt:lpstr>
      <vt:lpstr>Cambria Math</vt:lpstr>
      <vt:lpstr>Wingdings</vt:lpstr>
      <vt:lpstr>1_Office 主题​​</vt:lpstr>
      <vt:lpstr>毕设</vt:lpstr>
      <vt:lpstr>编译框架</vt:lpstr>
      <vt:lpstr>量子比特路由算法</vt:lpstr>
      <vt:lpstr>SMT v.s. heuristic-优化效果</vt:lpstr>
      <vt:lpstr>SMT v.s. heuristic-扩展性能</vt:lpstr>
      <vt:lpstr>启发式算法-状态/动作空间</vt:lpstr>
      <vt:lpstr>启发式算法-代价函数</vt:lpstr>
      <vt:lpstr>AI routing-灵感来自象棋</vt:lpstr>
      <vt:lpstr>Token</vt:lpstr>
      <vt:lpstr>基于交叉注意力机制的routing model</vt:lpstr>
      <vt:lpstr>模拟训练</vt:lpstr>
      <vt:lpstr>基于蒙特卡洛树搜索的自博弈强化学习(未开始)</vt:lpstr>
      <vt:lpstr>AI v.s. heurisitc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无数据模型量化论文分享：ZeroQ</dc:title>
  <dc:creator>x338</dc:creator>
  <cp:lastModifiedBy>永尚 李</cp:lastModifiedBy>
  <cp:revision>80</cp:revision>
  <dcterms:created xsi:type="dcterms:W3CDTF">2023-05-31T05:10:39Z</dcterms:created>
  <dcterms:modified xsi:type="dcterms:W3CDTF">2026-07-27T10:24:52Z</dcterms:modified>
</cp:coreProperties>
</file>